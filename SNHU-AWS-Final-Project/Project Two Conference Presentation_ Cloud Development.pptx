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7" roundtripDataSignature="AMtx7mhwE7MzNV64d6/xNSRh0l6Roxpz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2948F9-2E8F-417D-908E-60E6109C902B}">
  <a:tblStyle styleId="{BA2948F9-2E8F-417D-908E-60E6109C902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customschemas.google.com/relationships/presentationmetadata" Target="metadata"/><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 am a computer science student and the developer behind migrating the fullstack website to a cloud based site using AWS.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this presentation I will go over the process of that migration, the tools used, and topics such as containerization, what is serverless, and how cloud based sites are structured.</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What is </a:t>
            </a:r>
            <a:r>
              <a:rPr lang="en-US"/>
              <a:t>containerization</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process of </a:t>
            </a:r>
            <a:r>
              <a:rPr lang="en-US"/>
              <a:t>packaging</a:t>
            </a:r>
            <a:r>
              <a:rPr lang="en-US"/>
              <a:t> your application and any </a:t>
            </a:r>
            <a:r>
              <a:rPr lang="en-US"/>
              <a:t>dependencies, including OS libraries, that it needs to run into a self contained environment that can be run on any computer. If you are familiar with VMs, its like that without bringing the entire OS and other unneeded applications. Since the environment is captured this makes development and deployment much easier since the machine the application is moved to does not need to be changed before running the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Docker is a containerization tool for making and managing containers. By including a dockerfile into each part of the project, holding the commands needed to make a container, I was able to use Docker Desktop to take the original fullstack website and break it apart into containers, separating the frontend, backend, and database into three containers.</a:t>
            </a:r>
            <a:endParaRPr/>
          </a:p>
        </p:txBody>
      </p:sp>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Since containers are self contained </a:t>
            </a:r>
            <a:r>
              <a:rPr lang="en-US"/>
              <a:t>environments</a:t>
            </a:r>
            <a:r>
              <a:rPr lang="en-US"/>
              <a:t> they act as their own devices </a:t>
            </a:r>
            <a:r>
              <a:rPr lang="en-US"/>
              <a:t>effectively</a:t>
            </a:r>
            <a:r>
              <a:rPr lang="en-US"/>
              <a:t>, only communicating through the network with no knowledge of the other containers. To get these to work together and have the website work as a whole again I used Docker Compose and a bridge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Docker Compose and Docker Bridge Network allow </a:t>
            </a:r>
            <a:r>
              <a:rPr lang="en-US"/>
              <a:t>multiple</a:t>
            </a:r>
            <a:r>
              <a:rPr lang="en-US"/>
              <a:t> containers to know about </a:t>
            </a:r>
            <a:r>
              <a:rPr lang="en-US"/>
              <a:t>each other</a:t>
            </a:r>
            <a:r>
              <a:rPr lang="en-US"/>
              <a:t> and work together as containers rather than </a:t>
            </a:r>
            <a:r>
              <a:rPr lang="en-US"/>
              <a:t>unknown</a:t>
            </a:r>
            <a:r>
              <a:rPr lang="en-US"/>
              <a:t> devices. The bridge network is a private network for specified </a:t>
            </a:r>
            <a:r>
              <a:rPr lang="en-US"/>
              <a:t>containers allowing only those containers to communicate.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this, large applications can be broken down into components, much like the divide and conquer methodology in programming. This also promotes modularity of the application and increases security since the application has parts that are more isolated.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get the backend to work with the database I added a docker compose file that describes to docker the services, networking, and storage details for the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the website now broken apart into isolated containers it is now better suited for the AWS serverless environment since AWS is built on seperate services working together. For example it will be much easier to change the MongoDB database to the AWS DynamoDB without greatly changing the core code of the site.</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Serverless is not </a:t>
            </a:r>
            <a:r>
              <a:rPr lang="en-US"/>
              <a:t>truly</a:t>
            </a:r>
            <a:r>
              <a:rPr lang="en-US"/>
              <a:t> serverless, only your company becomes serverless but your company is now borrowing someone </a:t>
            </a:r>
            <a:r>
              <a:rPr lang="en-US"/>
              <a:t>else's</a:t>
            </a:r>
            <a:r>
              <a:rPr lang="en-US"/>
              <a:t> servers. T</a:t>
            </a:r>
            <a:r>
              <a:rPr lang="en-US"/>
              <a:t>hey maintain the hardware and infrastructure, you worry about your software.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AWS this makes growth much easier to manage since scaling is automatic and you only pay for the compute you use. Put simply, just ask for more servers when you need them without having to worry about setup.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host the website I had Angular build it for deployment then placed it into an AWS S3 cloud storage </a:t>
            </a:r>
            <a:r>
              <a:rPr lang="en-US"/>
              <a:t>service</a:t>
            </a:r>
            <a:r>
              <a:rPr lang="en-US"/>
              <a:t>. S3 is serverless storage with the capability to host static sites and built in security. With just this the site can be accessible but not get any data from servers.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S3 is the server in the clouds that </a:t>
            </a:r>
            <a:r>
              <a:rPr lang="en-US"/>
              <a:t>expands</a:t>
            </a:r>
            <a:r>
              <a:rPr lang="en-US"/>
              <a:t> as you need it. </a:t>
            </a:r>
            <a:r>
              <a:rPr lang="en-US"/>
              <a:t>Compared</a:t>
            </a:r>
            <a:r>
              <a:rPr lang="en-US"/>
              <a:t> to a local physical server this is much better for scaling and cost </a:t>
            </a:r>
            <a:r>
              <a:rPr lang="en-US"/>
              <a:t>effectiveness</a:t>
            </a:r>
            <a:r>
              <a:rPr lang="en-US"/>
              <a:t> since you no longer need to </a:t>
            </a:r>
            <a:r>
              <a:rPr lang="en-US"/>
              <a:t>worry</a:t>
            </a:r>
            <a:r>
              <a:rPr lang="en-US"/>
              <a:t> about physical </a:t>
            </a:r>
            <a:r>
              <a:rPr lang="en-US"/>
              <a:t>maintenance</a:t>
            </a:r>
            <a:r>
              <a:rPr lang="en-US"/>
              <a:t> of servers and set up costs.</a:t>
            </a:r>
            <a:endParaRPr/>
          </a:p>
        </p:txBody>
      </p:sp>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Serverless API</a:t>
            </a:r>
            <a:endParaRPr/>
          </a:p>
          <a:p>
            <a:pPr indent="-317500" lvl="0" marL="457200" rtl="0" algn="l">
              <a:spcBef>
                <a:spcPts val="0"/>
              </a:spcBef>
              <a:spcAft>
                <a:spcPts val="0"/>
              </a:spcAft>
              <a:buSzPts val="1400"/>
              <a:buChar char="-"/>
            </a:pPr>
            <a:r>
              <a:rPr lang="en-US"/>
              <a:t>Create functions with Lambda (single, short lived functions)</a:t>
            </a:r>
            <a:endParaRPr/>
          </a:p>
          <a:p>
            <a:pPr indent="-317500" lvl="0" marL="457200" rtl="0" algn="l">
              <a:spcBef>
                <a:spcPts val="0"/>
              </a:spcBef>
              <a:spcAft>
                <a:spcPts val="0"/>
              </a:spcAft>
              <a:buSzPts val="1400"/>
              <a:buChar char="-"/>
            </a:pPr>
            <a:r>
              <a:rPr lang="en-US"/>
              <a:t>Map calls to </a:t>
            </a:r>
            <a:r>
              <a:rPr lang="en-US"/>
              <a:t>functions</a:t>
            </a:r>
            <a:r>
              <a:rPr lang="en-US"/>
              <a:t> using API Gateway</a:t>
            </a:r>
            <a:endParaRPr/>
          </a:p>
          <a:p>
            <a:pPr indent="-317500" lvl="0" marL="457200" rtl="0" algn="l">
              <a:spcBef>
                <a:spcPts val="0"/>
              </a:spcBef>
              <a:spcAft>
                <a:spcPts val="0"/>
              </a:spcAft>
              <a:buSzPts val="1400"/>
              <a:buChar char="-"/>
            </a:pPr>
            <a:r>
              <a:rPr lang="en-US"/>
              <a:t>No need to manage server resources as api is used or grows</a:t>
            </a:r>
            <a:endParaRPr/>
          </a:p>
          <a:p>
            <a:pPr indent="0" lvl="0" marL="0" rtl="0" algn="l">
              <a:spcBef>
                <a:spcPts val="0"/>
              </a:spcBef>
              <a:spcAft>
                <a:spcPts val="0"/>
              </a:spcAft>
              <a:buNone/>
            </a:pPr>
            <a:r>
              <a:rPr lang="en-US"/>
              <a:t>Lambda API</a:t>
            </a:r>
            <a:endParaRPr/>
          </a:p>
          <a:p>
            <a:pPr indent="-317500" lvl="0" marL="457200" rtl="0" algn="l">
              <a:spcBef>
                <a:spcPts val="0"/>
              </a:spcBef>
              <a:spcAft>
                <a:spcPts val="0"/>
              </a:spcAft>
              <a:buSzPts val="1400"/>
              <a:buChar char="-"/>
            </a:pPr>
            <a:r>
              <a:rPr lang="en-US"/>
              <a:t>Event driven function calls, only runs when needed</a:t>
            </a:r>
            <a:endParaRPr/>
          </a:p>
          <a:p>
            <a:pPr indent="-317500" lvl="0" marL="457200" rtl="0" algn="l">
              <a:spcBef>
                <a:spcPts val="0"/>
              </a:spcBef>
              <a:spcAft>
                <a:spcPts val="0"/>
              </a:spcAft>
              <a:buSzPts val="1400"/>
              <a:buChar char="-"/>
            </a:pPr>
            <a:r>
              <a:rPr lang="en-US"/>
              <a:t>Create small, stateless, short lived functions</a:t>
            </a:r>
            <a:endParaRPr/>
          </a:p>
          <a:p>
            <a:pPr indent="-317500" lvl="0" marL="457200" rtl="0" algn="l">
              <a:spcBef>
                <a:spcPts val="0"/>
              </a:spcBef>
              <a:spcAft>
                <a:spcPts val="0"/>
              </a:spcAft>
              <a:buSzPts val="1400"/>
              <a:buChar char="-"/>
            </a:pPr>
            <a:r>
              <a:rPr lang="en-US"/>
              <a:t>Pay per use (no cost while unused)</a:t>
            </a:r>
            <a:endParaRPr/>
          </a:p>
          <a:p>
            <a:pPr indent="0" lvl="0" marL="0" rtl="0" algn="l">
              <a:spcBef>
                <a:spcPts val="0"/>
              </a:spcBef>
              <a:spcAft>
                <a:spcPts val="0"/>
              </a:spcAft>
              <a:buNone/>
            </a:pPr>
            <a:r>
              <a:rPr lang="en-US"/>
              <a:t>AWS API Gateway</a:t>
            </a:r>
            <a:endParaRPr/>
          </a:p>
          <a:p>
            <a:pPr indent="-317500" lvl="0" marL="457200" rtl="0" algn="l">
              <a:spcBef>
                <a:spcPts val="0"/>
              </a:spcBef>
              <a:spcAft>
                <a:spcPts val="0"/>
              </a:spcAft>
              <a:buSzPts val="1400"/>
              <a:buChar char="-"/>
            </a:pPr>
            <a:r>
              <a:rPr lang="en-US"/>
              <a:t>Maps calls to </a:t>
            </a:r>
            <a:r>
              <a:rPr lang="en-US"/>
              <a:t>functions</a:t>
            </a:r>
            <a:r>
              <a:rPr lang="en-US"/>
              <a:t> (REST API to Lambda), then manages returning results</a:t>
            </a:r>
            <a:endParaRPr/>
          </a:p>
          <a:p>
            <a:pPr indent="-317500" lvl="0" marL="457200" rtl="0" algn="l">
              <a:spcBef>
                <a:spcPts val="0"/>
              </a:spcBef>
              <a:spcAft>
                <a:spcPts val="0"/>
              </a:spcAft>
              <a:buSzPts val="1400"/>
              <a:buChar char="-"/>
            </a:pPr>
            <a:r>
              <a:rPr lang="en-US"/>
              <a:t>Security (only entrypoint to API), allows security policy selection</a:t>
            </a:r>
            <a:endParaRPr/>
          </a:p>
          <a:p>
            <a:pPr indent="0" lvl="0" marL="0" rtl="0" algn="l">
              <a:spcBef>
                <a:spcPts val="0"/>
              </a:spcBef>
              <a:spcAft>
                <a:spcPts val="0"/>
              </a:spcAft>
              <a:buNone/>
            </a:pPr>
            <a:r>
              <a:rPr lang="en-US"/>
              <a:t>S</a:t>
            </a:r>
            <a:r>
              <a:rPr lang="en-US"/>
              <a:t>cripts</a:t>
            </a:r>
            <a:endParaRPr/>
          </a:p>
          <a:p>
            <a:pPr indent="-317500" lvl="0" marL="457200" rtl="0" algn="l">
              <a:spcBef>
                <a:spcPts val="0"/>
              </a:spcBef>
              <a:spcAft>
                <a:spcPts val="0"/>
              </a:spcAft>
              <a:buSzPts val="1400"/>
              <a:buChar char="-"/>
            </a:pPr>
            <a:r>
              <a:rPr lang="en-US"/>
              <a:t>TableScan (get filtered and unfiltered results from any table), GetSingleRecord (get record from any table), UpsertQuestion (add/update record to Question table), UpsertAnswer (add/update record to Answer table), DeleteRecord (remove record from any table)</a:t>
            </a:r>
            <a:endParaRPr/>
          </a:p>
          <a:p>
            <a:pPr indent="-317500" lvl="0" marL="457200" rtl="0" algn="l">
              <a:spcBef>
                <a:spcPts val="0"/>
              </a:spcBef>
              <a:spcAft>
                <a:spcPts val="0"/>
              </a:spcAft>
              <a:buSzPts val="1400"/>
              <a:buChar char="-"/>
            </a:pPr>
            <a:r>
              <a:rPr lang="en-US"/>
              <a:t>Test cases for each function</a:t>
            </a:r>
            <a:endParaRPr/>
          </a:p>
          <a:p>
            <a:pPr indent="-317500" lvl="0" marL="457200" rtl="0" algn="l">
              <a:spcBef>
                <a:spcPts val="0"/>
              </a:spcBef>
              <a:spcAft>
                <a:spcPts val="0"/>
              </a:spcAft>
              <a:buSzPts val="1400"/>
              <a:buChar char="-"/>
            </a:pPr>
            <a:r>
              <a:rPr lang="en-US"/>
              <a:t>Functions for Create, Read, Update and Delete, aka GET, POST, PUT, DELETE</a:t>
            </a:r>
            <a:endParaRPr/>
          </a:p>
          <a:p>
            <a:pPr indent="0" lvl="0" marL="0" rtl="0" algn="l">
              <a:spcBef>
                <a:spcPts val="0"/>
              </a:spcBef>
              <a:spcAft>
                <a:spcPts val="0"/>
              </a:spcAft>
              <a:buNone/>
            </a:pPr>
            <a:r>
              <a:rPr lang="en-US"/>
              <a:t>Frontend to Backend</a:t>
            </a:r>
            <a:endParaRPr/>
          </a:p>
          <a:p>
            <a:pPr indent="-317500" lvl="0" marL="457200" rtl="0" algn="l">
              <a:spcBef>
                <a:spcPts val="0"/>
              </a:spcBef>
              <a:spcAft>
                <a:spcPts val="0"/>
              </a:spcAft>
              <a:buSzPts val="1400"/>
              <a:buChar char="-"/>
            </a:pPr>
            <a:r>
              <a:rPr lang="en-US"/>
              <a:t>In the angular site a simple change to the environment prod file will give our site the url to the created API. Rebuild with angular and redeploy to S3 will now allow the site to use the correct api url</a:t>
            </a:r>
            <a:endParaRPr/>
          </a:p>
          <a:p>
            <a:pPr indent="-317500" lvl="0" marL="457200" rtl="0" algn="l">
              <a:spcBef>
                <a:spcPts val="0"/>
              </a:spcBef>
              <a:spcAft>
                <a:spcPts val="0"/>
              </a:spcAft>
              <a:buSzPts val="1400"/>
              <a:buChar char="-"/>
            </a:pPr>
            <a:r>
              <a:rPr lang="en-US"/>
              <a:t>CORS also needs to be enabled for each resource in the API </a:t>
            </a:r>
            <a:endParaRPr/>
          </a:p>
          <a:p>
            <a:pPr indent="-317500" lvl="1" marL="914400" rtl="0" algn="l">
              <a:spcBef>
                <a:spcPts val="0"/>
              </a:spcBef>
              <a:spcAft>
                <a:spcPts val="0"/>
              </a:spcAft>
              <a:buSzPts val="1400"/>
              <a:buChar char="-"/>
            </a:pPr>
            <a:r>
              <a:rPr lang="en-US"/>
              <a:t>This is done in the API Gateway by defining an OPTIONS </a:t>
            </a:r>
            <a:r>
              <a:rPr lang="en-US"/>
              <a:t>method to return the needed access control headers </a:t>
            </a:r>
            <a:endParaRPr/>
          </a:p>
          <a:p>
            <a:pPr indent="-317500" lvl="1" marL="914400" rtl="0" algn="l">
              <a:spcBef>
                <a:spcPts val="0"/>
              </a:spcBef>
              <a:spcAft>
                <a:spcPts val="0"/>
              </a:spcAft>
              <a:buSzPts val="1400"/>
              <a:buChar char="-"/>
            </a:pPr>
            <a:r>
              <a:rPr lang="en-US"/>
              <a:t>Additionally CORS headers need to returned by the other GET, POST, PUT, and DELETE methods, which is done in Lambda when defining the response headers for the functions</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MongoDB</a:t>
            </a:r>
            <a:endParaRPr/>
          </a:p>
          <a:p>
            <a:pPr indent="-317500" lvl="0" marL="457200" rtl="0" algn="l">
              <a:spcBef>
                <a:spcPts val="0"/>
              </a:spcBef>
              <a:spcAft>
                <a:spcPts val="0"/>
              </a:spcAft>
              <a:buSzPts val="1400"/>
              <a:buChar char="-"/>
            </a:pPr>
            <a:r>
              <a:rPr lang="en-US"/>
              <a:t>NoSQL, JSON </a:t>
            </a:r>
            <a:r>
              <a:rPr lang="en-US"/>
              <a:t>based</a:t>
            </a:r>
            <a:r>
              <a:rPr lang="en-US"/>
              <a:t> document </a:t>
            </a:r>
            <a:endParaRPr/>
          </a:p>
          <a:p>
            <a:pPr indent="-317500" lvl="0" marL="457200" rtl="0" algn="l">
              <a:spcBef>
                <a:spcPts val="0"/>
              </a:spcBef>
              <a:spcAft>
                <a:spcPts val="0"/>
              </a:spcAft>
              <a:buSzPts val="1400"/>
              <a:buChar char="-"/>
            </a:pPr>
            <a:r>
              <a:rPr lang="en-US"/>
              <a:t>Flexible and rich querying</a:t>
            </a:r>
            <a:endParaRPr/>
          </a:p>
          <a:p>
            <a:pPr indent="-317500" lvl="0" marL="457200" rtl="0" algn="l">
              <a:spcBef>
                <a:spcPts val="0"/>
              </a:spcBef>
              <a:spcAft>
                <a:spcPts val="0"/>
              </a:spcAft>
              <a:buSzPts val="1400"/>
              <a:buChar char="-"/>
            </a:pPr>
            <a:r>
              <a:rPr lang="en-US"/>
              <a:t>Designed for complex queries</a:t>
            </a:r>
            <a:endParaRPr/>
          </a:p>
          <a:p>
            <a:pPr indent="-317500" lvl="0" marL="457200" rtl="0" algn="l">
              <a:spcBef>
                <a:spcPts val="0"/>
              </a:spcBef>
              <a:spcAft>
                <a:spcPts val="0"/>
              </a:spcAft>
              <a:buSzPts val="1400"/>
              <a:buChar char="-"/>
            </a:pPr>
            <a:r>
              <a:rPr lang="en-US"/>
              <a:t>F</a:t>
            </a:r>
            <a:r>
              <a:rPr lang="en-US"/>
              <a:t>lexibility</a:t>
            </a:r>
            <a:r>
              <a:rPr lang="en-US"/>
              <a:t> can lead to poor </a:t>
            </a:r>
            <a:r>
              <a:rPr lang="en-US"/>
              <a:t>performance</a:t>
            </a:r>
            <a:r>
              <a:rPr lang="en-US"/>
              <a:t> from query speeds as </a:t>
            </a:r>
            <a:r>
              <a:rPr lang="en-US"/>
              <a:t>database</a:t>
            </a:r>
            <a:r>
              <a:rPr lang="en-US"/>
              <a:t> grows</a:t>
            </a:r>
            <a:endParaRPr/>
          </a:p>
          <a:p>
            <a:pPr indent="-317500" lvl="0" marL="457200" rtl="0" algn="l">
              <a:spcBef>
                <a:spcPts val="0"/>
              </a:spcBef>
              <a:spcAft>
                <a:spcPts val="0"/>
              </a:spcAft>
              <a:buSzPts val="1400"/>
              <a:buChar char="-"/>
            </a:pPr>
            <a:r>
              <a:rPr lang="en-US"/>
              <a:t>Overall very flexible and simple but allows for poor performance if not planned properly and </a:t>
            </a:r>
            <a:r>
              <a:rPr lang="en-US"/>
              <a:t>requires</a:t>
            </a:r>
            <a:r>
              <a:rPr lang="en-US"/>
              <a:t> more manual work to increase query optimization. </a:t>
            </a:r>
            <a:endParaRPr/>
          </a:p>
          <a:p>
            <a:pPr indent="-317500" lvl="0" marL="457200" rtl="0" algn="l">
              <a:spcBef>
                <a:spcPts val="0"/>
              </a:spcBef>
              <a:spcAft>
                <a:spcPts val="0"/>
              </a:spcAft>
              <a:buSzPts val="1400"/>
              <a:buChar char="-"/>
            </a:pPr>
            <a:r>
              <a:rPr lang="en-US"/>
              <a:t>Requires more manual work to work with serverless.</a:t>
            </a:r>
            <a:endParaRPr/>
          </a:p>
          <a:p>
            <a:pPr indent="0" lvl="0" marL="0" rtl="0" algn="l">
              <a:spcBef>
                <a:spcPts val="0"/>
              </a:spcBef>
              <a:spcAft>
                <a:spcPts val="0"/>
              </a:spcAft>
              <a:buNone/>
            </a:pPr>
            <a:r>
              <a:rPr lang="en-US"/>
              <a:t>DynamoDB</a:t>
            </a:r>
            <a:endParaRPr/>
          </a:p>
          <a:p>
            <a:pPr indent="-317500" lvl="0" marL="457200" rtl="0" algn="l">
              <a:spcBef>
                <a:spcPts val="0"/>
              </a:spcBef>
              <a:spcAft>
                <a:spcPts val="0"/>
              </a:spcAft>
              <a:buSzPts val="1400"/>
              <a:buChar char="-"/>
            </a:pPr>
            <a:r>
              <a:rPr lang="en-US"/>
              <a:t>NoSQL, </a:t>
            </a:r>
            <a:r>
              <a:rPr lang="en-US"/>
              <a:t>key/value pair</a:t>
            </a:r>
            <a:endParaRPr/>
          </a:p>
          <a:p>
            <a:pPr indent="-317500" lvl="0" marL="457200" rtl="0" algn="l">
              <a:spcBef>
                <a:spcPts val="0"/>
              </a:spcBef>
              <a:spcAft>
                <a:spcPts val="0"/>
              </a:spcAft>
              <a:buSzPts val="1400"/>
              <a:buChar char="-"/>
            </a:pPr>
            <a:r>
              <a:rPr lang="en-US"/>
              <a:t>Designed for fast </a:t>
            </a:r>
            <a:r>
              <a:rPr lang="en-US"/>
              <a:t>quarry</a:t>
            </a:r>
            <a:r>
              <a:rPr lang="en-US"/>
              <a:t> speeds at large scale</a:t>
            </a:r>
            <a:endParaRPr/>
          </a:p>
          <a:p>
            <a:pPr indent="-317500" lvl="0" marL="457200" rtl="0" algn="l">
              <a:spcBef>
                <a:spcPts val="0"/>
              </a:spcBef>
              <a:spcAft>
                <a:spcPts val="0"/>
              </a:spcAft>
              <a:buSzPts val="1400"/>
              <a:buChar char="-"/>
            </a:pPr>
            <a:r>
              <a:rPr lang="en-US"/>
              <a:t>Strict querying (key and secondary key) increases complexity in planning upfront but keeps query speeds fast</a:t>
            </a:r>
            <a:endParaRPr/>
          </a:p>
          <a:p>
            <a:pPr indent="-317500" lvl="0" marL="457200" rtl="0" algn="l">
              <a:spcBef>
                <a:spcPts val="0"/>
              </a:spcBef>
              <a:spcAft>
                <a:spcPts val="0"/>
              </a:spcAft>
              <a:buSzPts val="1400"/>
              <a:buChar char="-"/>
            </a:pPr>
            <a:r>
              <a:rPr lang="en-US"/>
              <a:t>Built for serverless and AWS</a:t>
            </a:r>
            <a:endParaRPr/>
          </a:p>
          <a:p>
            <a:pPr indent="-317500" lvl="0" marL="457200" rtl="0" algn="l">
              <a:spcBef>
                <a:spcPts val="0"/>
              </a:spcBef>
              <a:spcAft>
                <a:spcPts val="0"/>
              </a:spcAft>
              <a:buSzPts val="1400"/>
              <a:buChar char="-"/>
            </a:pPr>
            <a:r>
              <a:rPr lang="en-US"/>
              <a:t>O</a:t>
            </a:r>
            <a:r>
              <a:rPr lang="en-US"/>
              <a:t>verall</a:t>
            </a:r>
            <a:r>
              <a:rPr lang="en-US"/>
              <a:t> more rigid in design and complex upfront but for performance and serverless scaling</a:t>
            </a:r>
            <a:endParaRPr/>
          </a:p>
          <a:p>
            <a:pPr indent="0" lvl="0" marL="0" rtl="0" algn="l">
              <a:spcBef>
                <a:spcPts val="0"/>
              </a:spcBef>
              <a:spcAft>
                <a:spcPts val="0"/>
              </a:spcAft>
              <a:buNone/>
            </a:pPr>
            <a:r>
              <a:rPr lang="en-US"/>
              <a:t>Queries/scripts</a:t>
            </a:r>
            <a:endParaRPr/>
          </a:p>
          <a:p>
            <a:pPr indent="-317500" lvl="0" marL="457200" rtl="0" algn="l">
              <a:spcBef>
                <a:spcPts val="0"/>
              </a:spcBef>
              <a:spcAft>
                <a:spcPts val="0"/>
              </a:spcAft>
              <a:buSzPts val="1400"/>
              <a:buChar char="-"/>
            </a:pPr>
            <a:r>
              <a:rPr lang="en-US"/>
              <a:t>Using the api set up, clients now interact with this </a:t>
            </a:r>
            <a:r>
              <a:rPr lang="en-US"/>
              <a:t>database</a:t>
            </a:r>
            <a:r>
              <a:rPr lang="en-US"/>
              <a:t> </a:t>
            </a:r>
            <a:r>
              <a:rPr lang="en-US"/>
              <a:t>through</a:t>
            </a:r>
            <a:r>
              <a:rPr lang="en-US"/>
              <a:t> the api, which uses the lambda functions</a:t>
            </a:r>
            <a:endParaRPr/>
          </a:p>
          <a:p>
            <a:pPr indent="0" lvl="0" marL="0" rtl="0" algn="l">
              <a:spcBef>
                <a:spcPts val="0"/>
              </a:spcBef>
              <a:spcAft>
                <a:spcPts val="0"/>
              </a:spcAft>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Elasticity</a:t>
            </a:r>
            <a:endParaRPr/>
          </a:p>
          <a:p>
            <a:pPr indent="-317500" lvl="0" marL="457200" rtl="0" algn="l">
              <a:spcBef>
                <a:spcPts val="0"/>
              </a:spcBef>
              <a:spcAft>
                <a:spcPts val="0"/>
              </a:spcAft>
              <a:buSzPts val="1400"/>
              <a:buChar char="-"/>
            </a:pPr>
            <a:r>
              <a:rPr lang="en-US"/>
              <a:t>ability to </a:t>
            </a:r>
            <a:r>
              <a:rPr lang="en-US"/>
              <a:t>acquire</a:t>
            </a:r>
            <a:r>
              <a:rPr lang="en-US"/>
              <a:t> and release resources as needed</a:t>
            </a:r>
            <a:endParaRPr/>
          </a:p>
          <a:p>
            <a:pPr indent="-317500" lvl="0" marL="457200" rtl="0" algn="l">
              <a:spcBef>
                <a:spcPts val="0"/>
              </a:spcBef>
              <a:spcAft>
                <a:spcPts val="0"/>
              </a:spcAft>
              <a:buSzPts val="1400"/>
              <a:buChar char="-"/>
            </a:pPr>
            <a:r>
              <a:rPr lang="en-US"/>
              <a:t>resources no long fixed to physical servers</a:t>
            </a:r>
            <a:endParaRPr/>
          </a:p>
          <a:p>
            <a:pPr indent="0" lvl="0" marL="0" rtl="0" algn="l">
              <a:spcBef>
                <a:spcPts val="0"/>
              </a:spcBef>
              <a:spcAft>
                <a:spcPts val="0"/>
              </a:spcAft>
              <a:buNone/>
            </a:pPr>
            <a:r>
              <a:rPr lang="en-US"/>
              <a:t>Pay for use</a:t>
            </a:r>
            <a:endParaRPr/>
          </a:p>
          <a:p>
            <a:pPr indent="-317500" lvl="0" marL="457200" rtl="0" algn="l">
              <a:spcBef>
                <a:spcPts val="0"/>
              </a:spcBef>
              <a:spcAft>
                <a:spcPts val="0"/>
              </a:spcAft>
              <a:buSzPts val="1400"/>
              <a:buChar char="-"/>
            </a:pPr>
            <a:r>
              <a:rPr lang="en-US"/>
              <a:t>pay for resources you use</a:t>
            </a:r>
            <a:endParaRPr/>
          </a:p>
          <a:p>
            <a:pPr indent="-317500" lvl="0" marL="457200" rtl="0" algn="l">
              <a:spcBef>
                <a:spcPts val="0"/>
              </a:spcBef>
              <a:spcAft>
                <a:spcPts val="0"/>
              </a:spcAft>
              <a:buSzPts val="1400"/>
              <a:buChar char="-"/>
            </a:pPr>
            <a:r>
              <a:rPr lang="en-US"/>
              <a:t>don’t need to pay to maintain, set up, and run hardware</a:t>
            </a:r>
            <a:endParaRPr/>
          </a:p>
          <a:p>
            <a:pPr indent="-317500" lvl="0" marL="457200" rtl="0" algn="l">
              <a:spcBef>
                <a:spcPts val="0"/>
              </a:spcBef>
              <a:spcAft>
                <a:spcPts val="0"/>
              </a:spcAft>
              <a:buSzPts val="1400"/>
              <a:buChar char="-"/>
            </a:pPr>
            <a:r>
              <a:rPr lang="en-US"/>
              <a:t>hardware has limits, that when reached, require expansion that takes more time and investment</a:t>
            </a:r>
            <a:endParaRPr/>
          </a:p>
          <a:p>
            <a:pPr indent="-317500" lvl="0" marL="457200" rtl="0" algn="l">
              <a:spcBef>
                <a:spcPts val="0"/>
              </a:spcBef>
              <a:spcAft>
                <a:spcPts val="0"/>
              </a:spcAft>
              <a:buSzPts val="1400"/>
              <a:buChar char="-"/>
            </a:pPr>
            <a:r>
              <a:rPr lang="en-US"/>
              <a:t>pay for what you actually use rather than unused hardware </a:t>
            </a:r>
            <a:endParaRPr/>
          </a:p>
        </p:txBody>
      </p:sp>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Access</a:t>
            </a:r>
            <a:endParaRPr b="1"/>
          </a:p>
          <a:p>
            <a:pPr indent="-317500" lvl="0" marL="457200" rtl="0" algn="l">
              <a:spcBef>
                <a:spcPts val="0"/>
              </a:spcBef>
              <a:spcAft>
                <a:spcPts val="0"/>
              </a:spcAft>
              <a:buSzPts val="1400"/>
              <a:buChar char="-"/>
            </a:pPr>
            <a:r>
              <a:rPr lang="en-US"/>
              <a:t>Access control can be done just about every step of the way as each service allows for policies and roles to be used as well as keeping things private or making them publicly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Policies</a:t>
            </a:r>
            <a:endParaRPr b="1"/>
          </a:p>
          <a:p>
            <a:pPr indent="0" lvl="0" marL="0" rtl="0" algn="l">
              <a:spcBef>
                <a:spcPts val="0"/>
              </a:spcBef>
              <a:spcAft>
                <a:spcPts val="0"/>
              </a:spcAft>
              <a:buNone/>
            </a:pPr>
            <a:r>
              <a:rPr lang="en-US"/>
              <a:t>R</a:t>
            </a:r>
            <a:r>
              <a:rPr lang="en-US"/>
              <a:t>oles</a:t>
            </a:r>
            <a:endParaRPr/>
          </a:p>
          <a:p>
            <a:pPr indent="-317500" lvl="0" marL="457200" rtl="0" algn="l">
              <a:spcBef>
                <a:spcPts val="0"/>
              </a:spcBef>
              <a:spcAft>
                <a:spcPts val="0"/>
              </a:spcAft>
              <a:buSzPts val="1400"/>
              <a:buChar char="-"/>
            </a:pPr>
            <a:r>
              <a:rPr lang="en-US"/>
              <a:t>Temporary security permissions for the session for an expected group of users </a:t>
            </a:r>
            <a:endParaRPr/>
          </a:p>
          <a:p>
            <a:pPr indent="-317500" lvl="0" marL="457200" rtl="0" algn="l">
              <a:spcBef>
                <a:spcPts val="0"/>
              </a:spcBef>
              <a:spcAft>
                <a:spcPts val="0"/>
              </a:spcAft>
              <a:buSzPts val="1400"/>
              <a:buChar char="-"/>
            </a:pPr>
            <a:r>
              <a:rPr lang="en-US"/>
              <a:t>Controls who can access resources </a:t>
            </a:r>
            <a:endParaRPr/>
          </a:p>
          <a:p>
            <a:pPr indent="0" lvl="0" marL="0" rtl="0" algn="l">
              <a:spcBef>
                <a:spcPts val="0"/>
              </a:spcBef>
              <a:spcAft>
                <a:spcPts val="0"/>
              </a:spcAft>
              <a:buNone/>
            </a:pPr>
            <a:r>
              <a:rPr lang="en-US"/>
              <a:t>Policies</a:t>
            </a:r>
            <a:endParaRPr/>
          </a:p>
          <a:p>
            <a:pPr indent="-317500" lvl="0" marL="457200" rtl="0" algn="l">
              <a:spcBef>
                <a:spcPts val="0"/>
              </a:spcBef>
              <a:spcAft>
                <a:spcPts val="0"/>
              </a:spcAft>
              <a:buSzPts val="1400"/>
              <a:buChar char="-"/>
            </a:pPr>
            <a:r>
              <a:rPr lang="en-US"/>
              <a:t>JSON that explicitly states what actions are allowed on </a:t>
            </a:r>
            <a:r>
              <a:rPr lang="en-US"/>
              <a:t>resources</a:t>
            </a:r>
            <a:r>
              <a:rPr lang="en-US"/>
              <a:t> </a:t>
            </a:r>
            <a:endParaRPr/>
          </a:p>
          <a:p>
            <a:pPr indent="-317500" lvl="0" marL="457200" rtl="0" algn="l">
              <a:spcBef>
                <a:spcPts val="0"/>
              </a:spcBef>
              <a:spcAft>
                <a:spcPts val="0"/>
              </a:spcAft>
              <a:buSzPts val="1400"/>
              <a:buChar char="-"/>
            </a:pPr>
            <a:r>
              <a:rPr lang="en-US"/>
              <a:t>Controls what actions can be done on resources</a:t>
            </a:r>
            <a:endParaRPr/>
          </a:p>
          <a:p>
            <a:pPr indent="-317500" lvl="0" marL="457200" rtl="0" algn="l">
              <a:spcBef>
                <a:spcPts val="0"/>
              </a:spcBef>
              <a:spcAft>
                <a:spcPts val="0"/>
              </a:spcAft>
              <a:buSzPts val="1400"/>
              <a:buChar char="-"/>
            </a:pPr>
            <a:r>
              <a:rPr lang="en-US"/>
              <a:t>Can be attached to resources, roles, groups, or users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API Security</a:t>
            </a:r>
            <a:endParaRPr b="1"/>
          </a:p>
          <a:p>
            <a:pPr indent="0" lvl="0" marL="0" rtl="0" algn="l">
              <a:spcBef>
                <a:spcPts val="0"/>
              </a:spcBef>
              <a:spcAft>
                <a:spcPts val="0"/>
              </a:spcAft>
              <a:buNone/>
            </a:pPr>
            <a:r>
              <a:rPr lang="en-US"/>
              <a:t>S3 buckets</a:t>
            </a:r>
            <a:endParaRPr/>
          </a:p>
          <a:p>
            <a:pPr indent="-317500" lvl="0" marL="457200" rtl="0" algn="l">
              <a:spcBef>
                <a:spcPts val="0"/>
              </a:spcBef>
              <a:spcAft>
                <a:spcPts val="0"/>
              </a:spcAft>
              <a:buSzPts val="1400"/>
              <a:buChar char="-"/>
            </a:pPr>
            <a:r>
              <a:rPr lang="en-US"/>
              <a:t>Default</a:t>
            </a:r>
            <a:r>
              <a:rPr lang="en-US"/>
              <a:t> private</a:t>
            </a:r>
            <a:endParaRPr/>
          </a:p>
          <a:p>
            <a:pPr indent="-317500" lvl="0" marL="457200" rtl="0" algn="l">
              <a:spcBef>
                <a:spcPts val="0"/>
              </a:spcBef>
              <a:spcAft>
                <a:spcPts val="0"/>
              </a:spcAft>
              <a:buSzPts val="1400"/>
              <a:buChar char="-"/>
            </a:pPr>
            <a:r>
              <a:rPr lang="en-US"/>
              <a:t>Can be configured to run as a website using static website hosting </a:t>
            </a:r>
            <a:endParaRPr/>
          </a:p>
          <a:p>
            <a:pPr indent="-317500" lvl="0" marL="457200" rtl="0" algn="l">
              <a:spcBef>
                <a:spcPts val="0"/>
              </a:spcBef>
              <a:spcAft>
                <a:spcPts val="0"/>
              </a:spcAft>
              <a:buSzPts val="1400"/>
              <a:buChar char="-"/>
            </a:pPr>
            <a:r>
              <a:rPr lang="en-US"/>
              <a:t>Set permissions to not block public access</a:t>
            </a:r>
            <a:endParaRPr/>
          </a:p>
          <a:p>
            <a:pPr indent="-317500" lvl="0" marL="457200" rtl="0" algn="l">
              <a:spcBef>
                <a:spcPts val="0"/>
              </a:spcBef>
              <a:spcAft>
                <a:spcPts val="0"/>
              </a:spcAft>
              <a:buSzPts val="1400"/>
              <a:buChar char="-"/>
            </a:pPr>
            <a:r>
              <a:rPr lang="en-US"/>
              <a:t>Two layers of security, the bucket and the operations on the bucket</a:t>
            </a:r>
            <a:endParaRPr/>
          </a:p>
          <a:p>
            <a:pPr indent="-317500" lvl="0" marL="457200" rtl="0" algn="l">
              <a:spcBef>
                <a:spcPts val="0"/>
              </a:spcBef>
              <a:spcAft>
                <a:spcPts val="0"/>
              </a:spcAft>
              <a:buSzPts val="1400"/>
              <a:buChar char="-"/>
            </a:pPr>
            <a:r>
              <a:rPr lang="en-US"/>
              <a:t>Once the bucket is public then you must enable read access operations with </a:t>
            </a:r>
            <a:r>
              <a:rPr lang="en-US"/>
              <a:t>policies</a:t>
            </a:r>
            <a:r>
              <a:rPr lang="en-US"/>
              <a:t> </a:t>
            </a:r>
            <a:endParaRPr/>
          </a:p>
          <a:p>
            <a:pPr indent="-317500" lvl="1" marL="914400" rtl="0" algn="l">
              <a:spcBef>
                <a:spcPts val="0"/>
              </a:spcBef>
              <a:spcAft>
                <a:spcPts val="0"/>
              </a:spcAft>
              <a:buSzPts val="1400"/>
              <a:buChar char="-"/>
            </a:pPr>
            <a:r>
              <a:rPr lang="en-US"/>
              <a:t>This will now allow public access to the buckets endpoint</a:t>
            </a:r>
            <a:endParaRPr/>
          </a:p>
          <a:p>
            <a:pPr indent="-317500" lvl="0" marL="457200" rtl="0" algn="l">
              <a:spcBef>
                <a:spcPts val="0"/>
              </a:spcBef>
              <a:spcAft>
                <a:spcPts val="0"/>
              </a:spcAft>
              <a:buSzPts val="1400"/>
              <a:buChar char="-"/>
            </a:pPr>
            <a:r>
              <a:rPr lang="en-US"/>
              <a:t>With our website packaged by Angular and deployed to an S3 bucket it is now serverless, it just lacks a database and public api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Lambda to gateway</a:t>
            </a:r>
            <a:endParaRPr/>
          </a:p>
          <a:p>
            <a:pPr indent="-317500" lvl="0" marL="457200" rtl="0" algn="l">
              <a:spcBef>
                <a:spcPts val="0"/>
              </a:spcBef>
              <a:spcAft>
                <a:spcPts val="0"/>
              </a:spcAft>
              <a:buSzPts val="1400"/>
              <a:buChar char="-"/>
            </a:pPr>
            <a:r>
              <a:rPr lang="en-US"/>
              <a:t>Gateway has a selection of security policies to </a:t>
            </a:r>
            <a:r>
              <a:rPr lang="en-US"/>
              <a:t>choose</a:t>
            </a:r>
            <a:r>
              <a:rPr lang="en-US"/>
              <a:t> from, I chose the recommended and latest Security Policy TLS, restricting the actions that users can perform with the api</a:t>
            </a:r>
            <a:endParaRPr/>
          </a:p>
          <a:p>
            <a:pPr indent="0" lvl="0" marL="0" rtl="0" algn="l">
              <a:spcBef>
                <a:spcPts val="0"/>
              </a:spcBef>
              <a:spcAft>
                <a:spcPts val="0"/>
              </a:spcAft>
              <a:buNone/>
            </a:pPr>
            <a:r>
              <a:rPr lang="en-US"/>
              <a:t>Lambda to </a:t>
            </a:r>
            <a:r>
              <a:rPr lang="en-US"/>
              <a:t>database</a:t>
            </a:r>
            <a:endParaRPr/>
          </a:p>
          <a:p>
            <a:pPr indent="-317500" lvl="0" marL="457200" rtl="0" algn="l">
              <a:spcBef>
                <a:spcPts val="0"/>
              </a:spcBef>
              <a:spcAft>
                <a:spcPts val="0"/>
              </a:spcAft>
              <a:buSzPts val="1400"/>
              <a:buChar char="-"/>
            </a:pPr>
            <a:r>
              <a:rPr lang="en-US"/>
              <a:t>A role was selected for each lambda’s permission, restricting the use of the lambda to users with that role</a:t>
            </a:r>
            <a:endParaRPr/>
          </a:p>
        </p:txBody>
      </p:sp>
      <p:sp>
        <p:nvSpPr>
          <p:cNvPr id="153" name="Google Shape;1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a quick recap</a:t>
            </a:r>
            <a:endParaRPr/>
          </a:p>
          <a:p>
            <a:pPr indent="-317500" lvl="0" marL="457200" rtl="0" algn="l">
              <a:spcBef>
                <a:spcPts val="0"/>
              </a:spcBef>
              <a:spcAft>
                <a:spcPts val="0"/>
              </a:spcAft>
              <a:buSzPts val="1400"/>
              <a:buChar char="-"/>
            </a:pPr>
            <a:r>
              <a:rPr lang="en-US"/>
              <a:t>I p</a:t>
            </a:r>
            <a:r>
              <a:rPr lang="en-US"/>
              <a:t>repared</a:t>
            </a:r>
            <a:r>
              <a:rPr lang="en-US"/>
              <a:t> website for cloud </a:t>
            </a:r>
            <a:r>
              <a:rPr lang="en-US"/>
              <a:t>environment</a:t>
            </a:r>
            <a:r>
              <a:rPr lang="en-US"/>
              <a:t> with docker to split it up and containerize it.</a:t>
            </a:r>
            <a:endParaRPr/>
          </a:p>
          <a:p>
            <a:pPr indent="-317500" lvl="0" marL="457200" rtl="0" algn="l">
              <a:spcBef>
                <a:spcPts val="0"/>
              </a:spcBef>
              <a:spcAft>
                <a:spcPts val="0"/>
              </a:spcAft>
              <a:buSzPts val="1400"/>
              <a:buChar char="-"/>
            </a:pPr>
            <a:r>
              <a:rPr lang="en-US"/>
              <a:t>I used Angular to build the frontend of the site for deployment</a:t>
            </a:r>
            <a:endParaRPr/>
          </a:p>
          <a:p>
            <a:pPr indent="-317500" lvl="0" marL="457200" rtl="0" algn="l">
              <a:spcBef>
                <a:spcPts val="0"/>
              </a:spcBef>
              <a:spcAft>
                <a:spcPts val="0"/>
              </a:spcAft>
              <a:buSzPts val="1400"/>
              <a:buChar char="-"/>
            </a:pPr>
            <a:r>
              <a:rPr lang="en-US"/>
              <a:t>Uploaded the build to AWS S3 bucket</a:t>
            </a:r>
            <a:endParaRPr/>
          </a:p>
          <a:p>
            <a:pPr indent="-317500" lvl="1" marL="914400" rtl="0" algn="l">
              <a:spcBef>
                <a:spcPts val="0"/>
              </a:spcBef>
              <a:spcAft>
                <a:spcPts val="0"/>
              </a:spcAft>
              <a:buSzPts val="1400"/>
              <a:buChar char="-"/>
            </a:pPr>
            <a:r>
              <a:rPr lang="en-US"/>
              <a:t>This creates a public endpoint users use to connect to the front end of the site</a:t>
            </a:r>
            <a:endParaRPr/>
          </a:p>
          <a:p>
            <a:pPr indent="-317500" lvl="0" marL="457200" rtl="0" algn="l">
              <a:spcBef>
                <a:spcPts val="0"/>
              </a:spcBef>
              <a:spcAft>
                <a:spcPts val="0"/>
              </a:spcAft>
              <a:buSzPts val="1400"/>
              <a:buChar char="-"/>
            </a:pPr>
            <a:r>
              <a:rPr lang="en-US"/>
              <a:t>Created an API using Lambda and API Gateway</a:t>
            </a:r>
            <a:endParaRPr/>
          </a:p>
          <a:p>
            <a:pPr indent="-317500" lvl="1" marL="914400" rtl="0" algn="l">
              <a:spcBef>
                <a:spcPts val="0"/>
              </a:spcBef>
              <a:spcAft>
                <a:spcPts val="0"/>
              </a:spcAft>
              <a:buSzPts val="1400"/>
              <a:buChar char="-"/>
            </a:pPr>
            <a:r>
              <a:rPr lang="en-US"/>
              <a:t>This creates a public endpoint for interaction with the </a:t>
            </a:r>
            <a:r>
              <a:rPr lang="en-US"/>
              <a:t>database used by the frontend</a:t>
            </a:r>
            <a:endParaRPr/>
          </a:p>
          <a:p>
            <a:pPr indent="-317500" lvl="0" marL="457200" rtl="0" algn="l">
              <a:spcBef>
                <a:spcPts val="0"/>
              </a:spcBef>
              <a:spcAft>
                <a:spcPts val="0"/>
              </a:spcAft>
              <a:buSzPts val="1400"/>
              <a:buChar char="-"/>
            </a:pPr>
            <a:r>
              <a:rPr lang="en-US"/>
              <a:t>Made a </a:t>
            </a:r>
            <a:r>
              <a:rPr lang="en-US"/>
              <a:t>database</a:t>
            </a:r>
            <a:r>
              <a:rPr lang="en-US"/>
              <a:t> with DynamoDB</a:t>
            </a:r>
            <a:endParaRPr/>
          </a:p>
          <a:p>
            <a:pPr indent="-317500" lvl="0" marL="457200" rtl="0" algn="l">
              <a:spcBef>
                <a:spcPts val="0"/>
              </a:spcBef>
              <a:spcAft>
                <a:spcPts val="0"/>
              </a:spcAft>
              <a:buSzPts val="1400"/>
              <a:buChar char="-"/>
            </a:pPr>
            <a:r>
              <a:rPr lang="en-US"/>
              <a:t>Enabled CORS for resource sharing between each service</a:t>
            </a:r>
            <a:endParaRPr/>
          </a:p>
          <a:p>
            <a:pPr indent="-317500" lvl="0" marL="457200" rtl="0" algn="l">
              <a:spcBef>
                <a:spcPts val="0"/>
              </a:spcBef>
              <a:spcAft>
                <a:spcPts val="0"/>
              </a:spcAft>
              <a:buSzPts val="1400"/>
              <a:buChar char="-"/>
            </a:pPr>
            <a:r>
              <a:rPr lang="en-US"/>
              <a:t>Secured the site with roles and policies</a:t>
            </a:r>
            <a:endParaRPr/>
          </a:p>
          <a:p>
            <a:pPr indent="-317500" lvl="0" marL="457200" rtl="0" algn="l">
              <a:spcBef>
                <a:spcPts val="0"/>
              </a:spcBef>
              <a:spcAft>
                <a:spcPts val="0"/>
              </a:spcAft>
              <a:buSzPts val="1400"/>
              <a:buChar char="-"/>
            </a:pPr>
            <a:r>
              <a:rPr lang="en-US"/>
              <a:t>Website is now ready for public use </a:t>
            </a:r>
            <a:endParaRPr/>
          </a:p>
        </p:txBody>
      </p:sp>
      <p:sp>
        <p:nvSpPr>
          <p:cNvPr id="164" name="Google Shape;1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12"/>
          <p:cNvSpPr txBox="1"/>
          <p:nvPr>
            <p:ph type="ctrTitle"/>
          </p:nvPr>
        </p:nvSpPr>
        <p:spPr>
          <a:xfrm>
            <a:off x="693175" y="1120876"/>
            <a:ext cx="8008376" cy="1710814"/>
          </a:xfrm>
          <a:prstGeom prst="rect">
            <a:avLst/>
          </a:prstGeom>
          <a:noFill/>
          <a:ln>
            <a:noFill/>
          </a:ln>
          <a:effectLst>
            <a:outerShdw blurRad="50800" rotWithShape="0" algn="tl" dir="2700000" dist="38100">
              <a:srgbClr val="000000">
                <a:alpha val="40000"/>
              </a:srgbClr>
            </a:outerShdw>
          </a:effectLst>
        </p:spPr>
        <p:txBody>
          <a:bodyPr anchorCtr="0" anchor="ctr" bIns="45700" lIns="91425" spcFirstLastPara="1" rIns="91425" wrap="square" tIns="45700">
            <a:normAutofit/>
          </a:bodyPr>
          <a:lstStyle>
            <a:lvl1pPr lvl="0" algn="r">
              <a:spcBef>
                <a:spcPts val="0"/>
              </a:spcBef>
              <a:spcAft>
                <a:spcPts val="0"/>
              </a:spcAft>
              <a:buClr>
                <a:srgbClr val="002060"/>
              </a:buClr>
              <a:buSzPts val="3600"/>
              <a:buFont typeface="Calibri"/>
              <a:buNone/>
              <a:defRPr sz="360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2"/>
          <p:cNvSpPr txBox="1"/>
          <p:nvPr>
            <p:ph idx="1" type="subTitle"/>
          </p:nvPr>
        </p:nvSpPr>
        <p:spPr>
          <a:xfrm>
            <a:off x="678426" y="3709218"/>
            <a:ext cx="8001000" cy="678426"/>
          </a:xfrm>
          <a:prstGeom prst="rect">
            <a:avLst/>
          </a:prstGeom>
          <a:noFill/>
          <a:ln>
            <a:noFill/>
          </a:ln>
        </p:spPr>
        <p:txBody>
          <a:bodyPr anchorCtr="0" anchor="t" bIns="45700" lIns="91425" spcFirstLastPara="1" rIns="91425" wrap="square" tIns="45700">
            <a:normAutofit/>
          </a:bodyPr>
          <a:lstStyle>
            <a:lvl1pPr lvl="0" algn="r">
              <a:spcBef>
                <a:spcPts val="560"/>
              </a:spcBef>
              <a:spcAft>
                <a:spcPts val="0"/>
              </a:spcAft>
              <a:buClr>
                <a:schemeClr val="lt1"/>
              </a:buClr>
              <a:buSzPts val="2800"/>
              <a:buNone/>
              <a:defRPr b="0" i="0" sz="2800">
                <a:solidFill>
                  <a:schemeClr val="lt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1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3"/>
          <p:cNvSpPr txBox="1"/>
          <p:nvPr>
            <p:ph type="title"/>
          </p:nvPr>
        </p:nvSpPr>
        <p:spPr>
          <a:xfrm>
            <a:off x="449824" y="224337"/>
            <a:ext cx="8259098" cy="763526"/>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rgbClr val="002060"/>
              </a:buClr>
              <a:buSzPts val="3600"/>
              <a:buFont typeface="Calibri"/>
              <a:buNone/>
              <a:defRPr sz="360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
          <p:cNvSpPr txBox="1"/>
          <p:nvPr>
            <p:ph idx="1" type="body"/>
          </p:nvPr>
        </p:nvSpPr>
        <p:spPr>
          <a:xfrm>
            <a:off x="463714" y="1415845"/>
            <a:ext cx="8246070" cy="336263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002060"/>
              </a:buClr>
              <a:buSzPts val="2800"/>
              <a:buChar char="•"/>
              <a:defRPr sz="2800">
                <a:solidFill>
                  <a:srgbClr val="002060"/>
                </a:solidFill>
              </a:defRPr>
            </a:lvl1pPr>
            <a:lvl2pPr indent="-406400" lvl="1" marL="914400" algn="l">
              <a:spcBef>
                <a:spcPts val="560"/>
              </a:spcBef>
              <a:spcAft>
                <a:spcPts val="0"/>
              </a:spcAft>
              <a:buClr>
                <a:srgbClr val="002060"/>
              </a:buClr>
              <a:buSzPts val="2800"/>
              <a:buChar char="–"/>
              <a:defRPr>
                <a:solidFill>
                  <a:srgbClr val="002060"/>
                </a:solidFill>
              </a:defRPr>
            </a:lvl2pPr>
            <a:lvl3pPr indent="-381000" lvl="2" marL="1371600" algn="l">
              <a:spcBef>
                <a:spcPts val="480"/>
              </a:spcBef>
              <a:spcAft>
                <a:spcPts val="0"/>
              </a:spcAft>
              <a:buClr>
                <a:srgbClr val="002060"/>
              </a:buClr>
              <a:buSzPts val="2400"/>
              <a:buChar char="•"/>
              <a:defRPr>
                <a:solidFill>
                  <a:srgbClr val="002060"/>
                </a:solidFill>
              </a:defRPr>
            </a:lvl3pPr>
            <a:lvl4pPr indent="-355600" lvl="3" marL="1828800" algn="l">
              <a:spcBef>
                <a:spcPts val="400"/>
              </a:spcBef>
              <a:spcAft>
                <a:spcPts val="0"/>
              </a:spcAft>
              <a:buClr>
                <a:srgbClr val="002060"/>
              </a:buClr>
              <a:buSzPts val="2000"/>
              <a:buChar char="–"/>
              <a:defRPr>
                <a:solidFill>
                  <a:srgbClr val="002060"/>
                </a:solidFill>
              </a:defRPr>
            </a:lvl4pPr>
            <a:lvl5pPr indent="-355600" lvl="4" marL="2286000" algn="l">
              <a:spcBef>
                <a:spcPts val="400"/>
              </a:spcBef>
              <a:spcAft>
                <a:spcPts val="0"/>
              </a:spcAft>
              <a:buClr>
                <a:srgbClr val="002060"/>
              </a:buClr>
              <a:buSzPts val="2000"/>
              <a:buChar char="»"/>
              <a:defRPr>
                <a:solidFill>
                  <a:srgbClr val="002060"/>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14"/>
          <p:cNvSpPr txBox="1"/>
          <p:nvPr>
            <p:ph type="title"/>
          </p:nvPr>
        </p:nvSpPr>
        <p:spPr>
          <a:xfrm>
            <a:off x="1716872" y="406537"/>
            <a:ext cx="6937885" cy="72534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2060"/>
              </a:buClr>
              <a:buSzPts val="3600"/>
              <a:buFont typeface="Calibri"/>
              <a:buNone/>
              <a:defRPr sz="360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4"/>
          <p:cNvSpPr txBox="1"/>
          <p:nvPr>
            <p:ph idx="1" type="body"/>
          </p:nvPr>
        </p:nvSpPr>
        <p:spPr>
          <a:xfrm>
            <a:off x="1718186" y="1143000"/>
            <a:ext cx="6961240" cy="3545497"/>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002060"/>
              </a:buClr>
              <a:buSzPts val="2800"/>
              <a:buChar char="•"/>
              <a:defRPr sz="2800">
                <a:solidFill>
                  <a:srgbClr val="002060"/>
                </a:solidFill>
              </a:defRPr>
            </a:lvl1pPr>
            <a:lvl2pPr indent="-406400" lvl="1" marL="914400" algn="l">
              <a:spcBef>
                <a:spcPts val="560"/>
              </a:spcBef>
              <a:spcAft>
                <a:spcPts val="0"/>
              </a:spcAft>
              <a:buClr>
                <a:srgbClr val="002060"/>
              </a:buClr>
              <a:buSzPts val="2800"/>
              <a:buChar char="–"/>
              <a:defRPr>
                <a:solidFill>
                  <a:srgbClr val="002060"/>
                </a:solidFill>
              </a:defRPr>
            </a:lvl2pPr>
            <a:lvl3pPr indent="-381000" lvl="2" marL="1371600" algn="l">
              <a:spcBef>
                <a:spcPts val="480"/>
              </a:spcBef>
              <a:spcAft>
                <a:spcPts val="0"/>
              </a:spcAft>
              <a:buClr>
                <a:srgbClr val="002060"/>
              </a:buClr>
              <a:buSzPts val="2400"/>
              <a:buChar char="•"/>
              <a:defRPr>
                <a:solidFill>
                  <a:srgbClr val="002060"/>
                </a:solidFill>
              </a:defRPr>
            </a:lvl3pPr>
            <a:lvl4pPr indent="-355600" lvl="3" marL="1828800" algn="l">
              <a:spcBef>
                <a:spcPts val="400"/>
              </a:spcBef>
              <a:spcAft>
                <a:spcPts val="0"/>
              </a:spcAft>
              <a:buClr>
                <a:srgbClr val="002060"/>
              </a:buClr>
              <a:buSzPts val="2000"/>
              <a:buChar char="–"/>
              <a:defRPr>
                <a:solidFill>
                  <a:srgbClr val="002060"/>
                </a:solidFill>
              </a:defRPr>
            </a:lvl4pPr>
            <a:lvl5pPr indent="-355600" lvl="4" marL="2286000" algn="l">
              <a:spcBef>
                <a:spcPts val="400"/>
              </a:spcBef>
              <a:spcAft>
                <a:spcPts val="0"/>
              </a:spcAft>
              <a:buClr>
                <a:srgbClr val="002060"/>
              </a:buClr>
              <a:buSzPts val="2000"/>
              <a:buChar char="»"/>
              <a:defRPr>
                <a:solidFill>
                  <a:srgbClr val="002060"/>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15"/>
          <p:cNvSpPr txBox="1"/>
          <p:nvPr>
            <p:ph type="title"/>
          </p:nvPr>
        </p:nvSpPr>
        <p:spPr>
          <a:xfrm>
            <a:off x="525318" y="212651"/>
            <a:ext cx="8093365" cy="7635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Clr>
                <a:srgbClr val="002060"/>
              </a:buClr>
              <a:buSzPts val="3600"/>
              <a:buFont typeface="Calibri"/>
              <a:buNone/>
              <a:defRPr sz="360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5"/>
          <p:cNvSpPr txBox="1"/>
          <p:nvPr>
            <p:ph idx="1" type="body"/>
          </p:nvPr>
        </p:nvSpPr>
        <p:spPr>
          <a:xfrm>
            <a:off x="522131" y="1530153"/>
            <a:ext cx="4040188" cy="479822"/>
          </a:xfrm>
          <a:prstGeom prst="rect">
            <a:avLst/>
          </a:prstGeom>
          <a:noFill/>
          <a:ln>
            <a:noFill/>
          </a:ln>
        </p:spPr>
        <p:txBody>
          <a:bodyPr anchorCtr="0" anchor="b" bIns="45700" lIns="91425" spcFirstLastPara="1" rIns="91425" wrap="square" tIns="45700">
            <a:normAutofit/>
          </a:bodyPr>
          <a:lstStyle>
            <a:lvl1pPr indent="-228600" lvl="0" marL="457200" algn="ctr">
              <a:spcBef>
                <a:spcPts val="480"/>
              </a:spcBef>
              <a:spcAft>
                <a:spcPts val="0"/>
              </a:spcAft>
              <a:buClr>
                <a:srgbClr val="002060"/>
              </a:buClr>
              <a:buSzPts val="2400"/>
              <a:buNone/>
              <a:defRPr b="1" sz="2400">
                <a:solidFill>
                  <a:srgbClr val="002060"/>
                </a:solidFil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7" name="Google Shape;37;p15"/>
          <p:cNvSpPr txBox="1"/>
          <p:nvPr>
            <p:ph idx="2" type="body"/>
          </p:nvPr>
        </p:nvSpPr>
        <p:spPr>
          <a:xfrm>
            <a:off x="522131" y="2002550"/>
            <a:ext cx="4040188" cy="2276294"/>
          </a:xfrm>
          <a:prstGeom prst="rect">
            <a:avLst/>
          </a:prstGeom>
          <a:noFill/>
          <a:ln>
            <a:noFill/>
          </a:ln>
        </p:spPr>
        <p:txBody>
          <a:bodyPr anchorCtr="0" anchor="t" bIns="45700" lIns="91425" spcFirstLastPara="1" rIns="91425" wrap="square" tIns="45700">
            <a:normAutofit/>
          </a:bodyPr>
          <a:lstStyle>
            <a:lvl1pPr indent="-381000" lvl="0" marL="457200" algn="ctr">
              <a:spcBef>
                <a:spcPts val="480"/>
              </a:spcBef>
              <a:spcAft>
                <a:spcPts val="0"/>
              </a:spcAft>
              <a:buClr>
                <a:srgbClr val="002060"/>
              </a:buClr>
              <a:buSzPts val="2400"/>
              <a:buChar char="•"/>
              <a:defRPr sz="2400">
                <a:solidFill>
                  <a:srgbClr val="002060"/>
                </a:solidFill>
              </a:defRPr>
            </a:lvl1pPr>
            <a:lvl2pPr indent="-355600" lvl="1" marL="914400" algn="ctr">
              <a:spcBef>
                <a:spcPts val="400"/>
              </a:spcBef>
              <a:spcAft>
                <a:spcPts val="0"/>
              </a:spcAft>
              <a:buClr>
                <a:srgbClr val="002060"/>
              </a:buClr>
              <a:buSzPts val="2000"/>
              <a:buChar char="–"/>
              <a:defRPr sz="2000">
                <a:solidFill>
                  <a:srgbClr val="002060"/>
                </a:solidFill>
              </a:defRPr>
            </a:lvl2pPr>
            <a:lvl3pPr indent="-342900" lvl="2" marL="1371600" algn="ctr">
              <a:spcBef>
                <a:spcPts val="360"/>
              </a:spcBef>
              <a:spcAft>
                <a:spcPts val="0"/>
              </a:spcAft>
              <a:buClr>
                <a:srgbClr val="002060"/>
              </a:buClr>
              <a:buSzPts val="1800"/>
              <a:buChar char="•"/>
              <a:defRPr sz="1800">
                <a:solidFill>
                  <a:srgbClr val="002060"/>
                </a:solidFill>
              </a:defRPr>
            </a:lvl3pPr>
            <a:lvl4pPr indent="-330200" lvl="3" marL="1828800" algn="ctr">
              <a:spcBef>
                <a:spcPts val="320"/>
              </a:spcBef>
              <a:spcAft>
                <a:spcPts val="0"/>
              </a:spcAft>
              <a:buClr>
                <a:srgbClr val="002060"/>
              </a:buClr>
              <a:buSzPts val="1600"/>
              <a:buChar char="–"/>
              <a:defRPr sz="1600">
                <a:solidFill>
                  <a:srgbClr val="002060"/>
                </a:solidFill>
              </a:defRPr>
            </a:lvl4pPr>
            <a:lvl5pPr indent="-330200" lvl="4" marL="2286000" algn="ctr">
              <a:spcBef>
                <a:spcPts val="320"/>
              </a:spcBef>
              <a:spcAft>
                <a:spcPts val="0"/>
              </a:spcAft>
              <a:buClr>
                <a:srgbClr val="002060"/>
              </a:buClr>
              <a:buSzPts val="1600"/>
              <a:buChar char="»"/>
              <a:defRPr sz="1600">
                <a:solidFill>
                  <a:srgbClr val="002060"/>
                </a:solidFil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8" name="Google Shape;38;p15"/>
          <p:cNvSpPr txBox="1"/>
          <p:nvPr>
            <p:ph idx="3" type="body"/>
          </p:nvPr>
        </p:nvSpPr>
        <p:spPr>
          <a:xfrm>
            <a:off x="4557252" y="1530153"/>
            <a:ext cx="4041775" cy="479822"/>
          </a:xfrm>
          <a:prstGeom prst="rect">
            <a:avLst/>
          </a:prstGeom>
          <a:noFill/>
          <a:ln>
            <a:noFill/>
          </a:ln>
        </p:spPr>
        <p:txBody>
          <a:bodyPr anchorCtr="0" anchor="b" bIns="45700" lIns="91425" spcFirstLastPara="1" rIns="91425" wrap="square" tIns="45700">
            <a:normAutofit/>
          </a:bodyPr>
          <a:lstStyle>
            <a:lvl1pPr indent="-228600" lvl="0" marL="457200" algn="ctr">
              <a:spcBef>
                <a:spcPts val="480"/>
              </a:spcBef>
              <a:spcAft>
                <a:spcPts val="0"/>
              </a:spcAft>
              <a:buClr>
                <a:srgbClr val="002060"/>
              </a:buClr>
              <a:buSzPts val="2400"/>
              <a:buNone/>
              <a:defRPr b="1" sz="2400">
                <a:solidFill>
                  <a:srgbClr val="002060"/>
                </a:solidFil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5"/>
          <p:cNvSpPr txBox="1"/>
          <p:nvPr>
            <p:ph idx="4" type="body"/>
          </p:nvPr>
        </p:nvSpPr>
        <p:spPr>
          <a:xfrm>
            <a:off x="4557252" y="2002550"/>
            <a:ext cx="4041775" cy="2276294"/>
          </a:xfrm>
          <a:prstGeom prst="rect">
            <a:avLst/>
          </a:prstGeom>
          <a:noFill/>
          <a:ln>
            <a:noFill/>
          </a:ln>
        </p:spPr>
        <p:txBody>
          <a:bodyPr anchorCtr="0" anchor="t" bIns="45700" lIns="91425" spcFirstLastPara="1" rIns="91425" wrap="square" tIns="45700">
            <a:normAutofit/>
          </a:bodyPr>
          <a:lstStyle>
            <a:lvl1pPr indent="-381000" lvl="0" marL="457200" algn="ctr">
              <a:spcBef>
                <a:spcPts val="480"/>
              </a:spcBef>
              <a:spcAft>
                <a:spcPts val="0"/>
              </a:spcAft>
              <a:buClr>
                <a:srgbClr val="002060"/>
              </a:buClr>
              <a:buSzPts val="2400"/>
              <a:buChar char="•"/>
              <a:defRPr sz="2400">
                <a:solidFill>
                  <a:srgbClr val="002060"/>
                </a:solidFill>
              </a:defRPr>
            </a:lvl1pPr>
            <a:lvl2pPr indent="-355600" lvl="1" marL="914400" algn="ctr">
              <a:spcBef>
                <a:spcPts val="400"/>
              </a:spcBef>
              <a:spcAft>
                <a:spcPts val="0"/>
              </a:spcAft>
              <a:buClr>
                <a:srgbClr val="002060"/>
              </a:buClr>
              <a:buSzPts val="2000"/>
              <a:buChar char="–"/>
              <a:defRPr sz="2000">
                <a:solidFill>
                  <a:srgbClr val="002060"/>
                </a:solidFill>
              </a:defRPr>
            </a:lvl2pPr>
            <a:lvl3pPr indent="-342900" lvl="2" marL="1371600" algn="ctr">
              <a:spcBef>
                <a:spcPts val="360"/>
              </a:spcBef>
              <a:spcAft>
                <a:spcPts val="0"/>
              </a:spcAft>
              <a:buClr>
                <a:srgbClr val="002060"/>
              </a:buClr>
              <a:buSzPts val="1800"/>
              <a:buChar char="•"/>
              <a:defRPr sz="1800">
                <a:solidFill>
                  <a:srgbClr val="002060"/>
                </a:solidFill>
              </a:defRPr>
            </a:lvl3pPr>
            <a:lvl4pPr indent="-330200" lvl="3" marL="1828800" algn="ctr">
              <a:spcBef>
                <a:spcPts val="320"/>
              </a:spcBef>
              <a:spcAft>
                <a:spcPts val="0"/>
              </a:spcAft>
              <a:buClr>
                <a:srgbClr val="002060"/>
              </a:buClr>
              <a:buSzPts val="1600"/>
              <a:buChar char="–"/>
              <a:defRPr sz="1600">
                <a:solidFill>
                  <a:srgbClr val="002060"/>
                </a:solidFill>
              </a:defRPr>
            </a:lvl4pPr>
            <a:lvl5pPr indent="-330200" lvl="4" marL="2286000" algn="ctr">
              <a:spcBef>
                <a:spcPts val="320"/>
              </a:spcBef>
              <a:spcAft>
                <a:spcPts val="0"/>
              </a:spcAft>
              <a:buClr>
                <a:srgbClr val="002060"/>
              </a:buClr>
              <a:buSzPts val="1600"/>
              <a:buChar char="»"/>
              <a:defRPr sz="1600">
                <a:solidFill>
                  <a:srgbClr val="002060"/>
                </a:solidFil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16"/>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6" name="Google Shape;46;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1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2" name="Google Shape;52;p17"/>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3" name="Google Shape;53;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1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20"/>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21"/>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p:nvPr>
            <p:ph idx="2" type="pic"/>
          </p:nvPr>
        </p:nvSpPr>
        <p:spPr>
          <a:xfrm>
            <a:off x="1792288" y="459581"/>
            <a:ext cx="5486400" cy="3086100"/>
          </a:xfrm>
          <a:prstGeom prst="rect">
            <a:avLst/>
          </a:prstGeom>
          <a:noFill/>
          <a:ln>
            <a:noFill/>
          </a:ln>
        </p:spPr>
      </p:sp>
      <p:sp>
        <p:nvSpPr>
          <p:cNvPr id="75" name="Google Shape;75;p21"/>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6" name="Google Shape;76;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2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2"/>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23"/>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23"/>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E:\websites\free-power-point-templates\2012\logos.png" id="91" name="Google Shape;91;p23"/>
          <p:cNvPicPr preferRelativeResize="0"/>
          <p:nvPr/>
        </p:nvPicPr>
        <p:blipFill rotWithShape="1">
          <a:blip r:embed="rId2">
            <a:alphaModFix/>
          </a:blip>
          <a:srcRect b="0" l="0" r="0" t="0"/>
          <a:stretch/>
        </p:blipFill>
        <p:spPr>
          <a:xfrm>
            <a:off x="3808475" y="2326213"/>
            <a:ext cx="1463784" cy="52696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1"/>
          <p:cNvSpPr txBox="1"/>
          <p:nvPr/>
        </p:nvSpPr>
        <p:spPr>
          <a:xfrm>
            <a:off x="-9150" y="5213747"/>
            <a:ext cx="838962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A5A5A5"/>
                </a:solidFill>
                <a:latin typeface="Calibri"/>
                <a:ea typeface="Calibri"/>
                <a:cs typeface="Calibri"/>
                <a:sym typeface="Calibri"/>
              </a:rPr>
              <a:t>This presentation uses a free template provided by FPPT.com</a:t>
            </a:r>
            <a:endParaRPr/>
          </a:p>
          <a:p>
            <a:pPr indent="0" lvl="0" marL="0" marR="0" rtl="0" algn="l">
              <a:spcBef>
                <a:spcPts val="0"/>
              </a:spcBef>
              <a:spcAft>
                <a:spcPts val="0"/>
              </a:spcAft>
              <a:buNone/>
            </a:pPr>
            <a:r>
              <a:rPr lang="en-US" sz="1400">
                <a:solidFill>
                  <a:srgbClr val="A5A5A5"/>
                </a:solidFill>
                <a:latin typeface="Calibri"/>
                <a:ea typeface="Calibri"/>
                <a:cs typeface="Calibri"/>
                <a:sym typeface="Calibri"/>
              </a:rPr>
              <a:t>www.free-power-point-templates.com</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885127" y="324020"/>
            <a:ext cx="8067368" cy="1755053"/>
          </a:xfrm>
          <a:prstGeom prst="rect">
            <a:avLst/>
          </a:prstGeom>
          <a:solidFill>
            <a:schemeClr val="accent1">
              <a:alpha val="40000"/>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 CS 470 Project Two</a:t>
            </a:r>
            <a:br>
              <a:rPr lang="en-US"/>
            </a:br>
            <a:r>
              <a:rPr lang="en-US"/>
              <a:t>Conference Presentation:</a:t>
            </a:r>
            <a:br>
              <a:rPr lang="en-US"/>
            </a:br>
            <a:r>
              <a:rPr lang="en-US"/>
              <a:t>Cloud Development</a:t>
            </a:r>
            <a:endParaRPr/>
          </a:p>
        </p:txBody>
      </p:sp>
      <p:sp>
        <p:nvSpPr>
          <p:cNvPr id="97" name="Google Shape;97;p1"/>
          <p:cNvSpPr txBox="1"/>
          <p:nvPr>
            <p:ph idx="1" type="subTitle"/>
          </p:nvPr>
        </p:nvSpPr>
        <p:spPr>
          <a:xfrm>
            <a:off x="516194" y="3447321"/>
            <a:ext cx="8096864" cy="730043"/>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lt1"/>
              </a:buClr>
              <a:buSzPts val="2800"/>
              <a:buNone/>
            </a:pPr>
            <a:r>
              <a:rPr lang="en-US"/>
              <a:t>Matteo Russo</a:t>
            </a:r>
            <a:endParaRPr/>
          </a:p>
        </p:txBody>
      </p:sp>
      <p:sp>
        <p:nvSpPr>
          <p:cNvPr id="98" name="Google Shape;98;p1"/>
          <p:cNvSpPr txBox="1"/>
          <p:nvPr/>
        </p:nvSpPr>
        <p:spPr>
          <a:xfrm>
            <a:off x="516193" y="3956035"/>
            <a:ext cx="8096864" cy="730043"/>
          </a:xfrm>
          <a:prstGeom prst="rect">
            <a:avLst/>
          </a:prstGeom>
          <a:noFill/>
          <a:ln>
            <a:noFill/>
          </a:ln>
        </p:spPr>
        <p:txBody>
          <a:bodyPr anchorCtr="0" anchor="t" bIns="45700" lIns="91425" spcFirstLastPara="1" rIns="91425" wrap="square" tIns="45700">
            <a:normAutofit/>
          </a:bodyPr>
          <a:lstStyle/>
          <a:p>
            <a:pPr indent="0" lvl="0" marL="0" marR="0" rtl="0" algn="r">
              <a:spcBef>
                <a:spcPts val="0"/>
              </a:spcBef>
              <a:spcAft>
                <a:spcPts val="0"/>
              </a:spcAft>
              <a:buClr>
                <a:schemeClr val="lt1"/>
              </a:buClr>
              <a:buSzPts val="2800"/>
              <a:buFont typeface="Arial"/>
              <a:buNone/>
            </a:pPr>
            <a:r>
              <a:rPr lang="en-US" sz="2800">
                <a:solidFill>
                  <a:schemeClr val="lt1"/>
                </a:solidFill>
                <a:latin typeface="Calibri"/>
                <a:ea typeface="Calibri"/>
                <a:cs typeface="Calibri"/>
                <a:sym typeface="Calibri"/>
              </a:rPr>
              <a:t>Feb.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1716872" y="406537"/>
            <a:ext cx="6937800" cy="7254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Overview</a:t>
            </a:r>
            <a:endParaRPr/>
          </a:p>
        </p:txBody>
      </p:sp>
      <p:sp>
        <p:nvSpPr>
          <p:cNvPr id="104" name="Google Shape;104;p2"/>
          <p:cNvSpPr txBox="1"/>
          <p:nvPr>
            <p:ph idx="1" type="body"/>
          </p:nvPr>
        </p:nvSpPr>
        <p:spPr>
          <a:xfrm>
            <a:off x="2293125" y="1143000"/>
            <a:ext cx="6386400" cy="3545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800"/>
              <a:buChar char="•"/>
            </a:pPr>
            <a:r>
              <a:rPr lang="en-US"/>
              <a:t>Who am I?</a:t>
            </a:r>
            <a:endParaRPr/>
          </a:p>
          <a:p>
            <a:pPr indent="-342900" lvl="0" marL="342900" rtl="0" algn="l">
              <a:spcBef>
                <a:spcPts val="560"/>
              </a:spcBef>
              <a:spcAft>
                <a:spcPts val="0"/>
              </a:spcAft>
              <a:buClr>
                <a:srgbClr val="002060"/>
              </a:buClr>
              <a:buSzPts val="2800"/>
              <a:buChar char="•"/>
            </a:pPr>
            <a:r>
              <a:rPr lang="en-US"/>
              <a:t>What is this about?</a:t>
            </a:r>
            <a:endParaRPr b="1"/>
          </a:p>
          <a:p>
            <a:pPr indent="0" lvl="0" marL="0" rtl="0" algn="l">
              <a:spcBef>
                <a:spcPts val="560"/>
              </a:spcBef>
              <a:spcAft>
                <a:spcPts val="0"/>
              </a:spcAft>
              <a:buClr>
                <a:srgbClr val="002060"/>
              </a:buClr>
              <a:buSzPts val="2800"/>
              <a:buNone/>
            </a:pPr>
            <a:r>
              <a:t/>
            </a:r>
            <a:endParaRPr/>
          </a:p>
          <a:p>
            <a:pPr indent="-165100" lvl="0" marL="342900" rtl="0" algn="l">
              <a:spcBef>
                <a:spcPts val="560"/>
              </a:spcBef>
              <a:spcAft>
                <a:spcPts val="0"/>
              </a:spcAft>
              <a:buClr>
                <a:srgbClr val="002060"/>
              </a:buClr>
              <a:buSzPts val="2800"/>
              <a:buNone/>
            </a:pPr>
            <a:r>
              <a:t/>
            </a:r>
            <a:endParaRPr/>
          </a:p>
          <a:p>
            <a:pPr indent="-165100" lvl="0" marL="342900" rtl="0" algn="l">
              <a:spcBef>
                <a:spcPts val="560"/>
              </a:spcBef>
              <a:spcAft>
                <a:spcPts val="0"/>
              </a:spcAft>
              <a:buClr>
                <a:srgbClr val="002060"/>
              </a:buClr>
              <a:buSzPts val="2800"/>
              <a:buNone/>
            </a:pPr>
            <a:r>
              <a:t/>
            </a:r>
            <a:endParaRPr/>
          </a:p>
        </p:txBody>
      </p:sp>
      <p:pic>
        <p:nvPicPr>
          <p:cNvPr id="105" name="Google Shape;105;p2" title="Untitled Diagram.jpg"/>
          <p:cNvPicPr preferRelativeResize="0"/>
          <p:nvPr/>
        </p:nvPicPr>
        <p:blipFill>
          <a:blip r:embed="rId3">
            <a:alphaModFix/>
          </a:blip>
          <a:stretch>
            <a:fillRect/>
          </a:stretch>
        </p:blipFill>
        <p:spPr>
          <a:xfrm>
            <a:off x="4048225" y="2649525"/>
            <a:ext cx="4631300" cy="2038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449824" y="224337"/>
            <a:ext cx="8259000" cy="7635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Containerization</a:t>
            </a:r>
            <a:endParaRPr/>
          </a:p>
        </p:txBody>
      </p:sp>
      <p:sp>
        <p:nvSpPr>
          <p:cNvPr id="111" name="Google Shape;111;p3"/>
          <p:cNvSpPr txBox="1"/>
          <p:nvPr>
            <p:ph idx="1" type="body"/>
          </p:nvPr>
        </p:nvSpPr>
        <p:spPr>
          <a:xfrm>
            <a:off x="463721" y="1415850"/>
            <a:ext cx="4893300" cy="3362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800"/>
              <a:buChar char="•"/>
            </a:pPr>
            <a:r>
              <a:rPr lang="en-US"/>
              <a:t>Turn your </a:t>
            </a:r>
            <a:r>
              <a:rPr lang="en-US"/>
              <a:t>application</a:t>
            </a:r>
            <a:r>
              <a:rPr lang="en-US"/>
              <a:t> into an array of boxes that can ship anywhere.</a:t>
            </a:r>
            <a:endParaRPr/>
          </a:p>
          <a:p>
            <a:pPr indent="-342900" lvl="0" marL="342900" rtl="0" algn="l">
              <a:spcBef>
                <a:spcPts val="560"/>
              </a:spcBef>
              <a:spcAft>
                <a:spcPts val="0"/>
              </a:spcAft>
              <a:buClr>
                <a:srgbClr val="002060"/>
              </a:buClr>
              <a:buSzPts val="2800"/>
              <a:buChar char="•"/>
            </a:pPr>
            <a:r>
              <a:rPr lang="en-US"/>
              <a:t>What tools are necessary for containerization?</a:t>
            </a:r>
            <a:endParaRPr/>
          </a:p>
        </p:txBody>
      </p:sp>
      <p:pic>
        <p:nvPicPr>
          <p:cNvPr descr="Stack of cargo containers (Provided by Getty Images)" id="112" name="Google Shape;112;p3"/>
          <p:cNvPicPr preferRelativeResize="0"/>
          <p:nvPr/>
        </p:nvPicPr>
        <p:blipFill>
          <a:blip r:embed="rId3">
            <a:alphaModFix/>
          </a:blip>
          <a:stretch>
            <a:fillRect/>
          </a:stretch>
        </p:blipFill>
        <p:spPr>
          <a:xfrm>
            <a:off x="5356989" y="1415842"/>
            <a:ext cx="3352836" cy="33626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1716872" y="406537"/>
            <a:ext cx="6937885" cy="725349"/>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Orchestration</a:t>
            </a:r>
            <a:endParaRPr/>
          </a:p>
        </p:txBody>
      </p:sp>
      <p:sp>
        <p:nvSpPr>
          <p:cNvPr id="118" name="Google Shape;118;p4"/>
          <p:cNvSpPr txBox="1"/>
          <p:nvPr>
            <p:ph idx="1" type="body"/>
          </p:nvPr>
        </p:nvSpPr>
        <p:spPr>
          <a:xfrm>
            <a:off x="1718186" y="1143000"/>
            <a:ext cx="6961240" cy="354549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800"/>
              <a:buChar char="•"/>
            </a:pPr>
            <a:r>
              <a:rPr lang="en-US"/>
              <a:t>Multiple containers</a:t>
            </a:r>
            <a:endParaRPr/>
          </a:p>
          <a:p>
            <a:pPr indent="-342900" lvl="0" marL="342900" rtl="0" algn="l">
              <a:spcBef>
                <a:spcPts val="0"/>
              </a:spcBef>
              <a:spcAft>
                <a:spcPts val="0"/>
              </a:spcAft>
              <a:buClr>
                <a:srgbClr val="002060"/>
              </a:buClr>
              <a:buSzPts val="2800"/>
              <a:buChar char="•"/>
            </a:pPr>
            <a:r>
              <a:rPr lang="en-US"/>
              <a:t>Docker Compose</a:t>
            </a:r>
            <a:endParaRPr/>
          </a:p>
          <a:p>
            <a:pPr indent="-342900" lvl="0" marL="342900" rtl="0" algn="l">
              <a:spcBef>
                <a:spcPts val="0"/>
              </a:spcBef>
              <a:spcAft>
                <a:spcPts val="0"/>
              </a:spcAft>
              <a:buSzPts val="2800"/>
              <a:buChar char="•"/>
            </a:pPr>
            <a:r>
              <a:rPr lang="en-US"/>
              <a:t>Your website</a:t>
            </a:r>
            <a:endParaRPr/>
          </a:p>
        </p:txBody>
      </p:sp>
      <p:pic>
        <p:nvPicPr>
          <p:cNvPr id="119" name="Google Shape;119;p4" title="VirtualBox_Ubuntu24_01_02_2026_13_44_15.png"/>
          <p:cNvPicPr preferRelativeResize="0"/>
          <p:nvPr/>
        </p:nvPicPr>
        <p:blipFill>
          <a:blip r:embed="rId3">
            <a:alphaModFix/>
          </a:blip>
          <a:stretch>
            <a:fillRect/>
          </a:stretch>
        </p:blipFill>
        <p:spPr>
          <a:xfrm>
            <a:off x="4572000" y="2121351"/>
            <a:ext cx="4107424" cy="25671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525318" y="212651"/>
            <a:ext cx="8093365" cy="7635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The Serverless Cloud</a:t>
            </a:r>
            <a:endParaRPr/>
          </a:p>
        </p:txBody>
      </p:sp>
      <p:sp>
        <p:nvSpPr>
          <p:cNvPr id="125" name="Google Shape;125;p5"/>
          <p:cNvSpPr txBox="1"/>
          <p:nvPr>
            <p:ph idx="2" type="body"/>
          </p:nvPr>
        </p:nvSpPr>
        <p:spPr>
          <a:xfrm>
            <a:off x="525324" y="1976425"/>
            <a:ext cx="5898300" cy="1894500"/>
          </a:xfrm>
          <a:prstGeom prst="rect">
            <a:avLst/>
          </a:prstGeom>
          <a:noFill/>
          <a:ln>
            <a:noFill/>
          </a:ln>
        </p:spPr>
        <p:txBody>
          <a:bodyPr anchorCtr="0" anchor="t" bIns="45700" lIns="91425" spcFirstLastPara="1" rIns="91425" wrap="square" tIns="45700">
            <a:normAutofit/>
          </a:bodyPr>
          <a:lstStyle/>
          <a:p>
            <a:pPr indent="-406400" lvl="0" marL="342900" rtl="0" algn="l">
              <a:spcBef>
                <a:spcPts val="360"/>
              </a:spcBef>
              <a:spcAft>
                <a:spcPts val="0"/>
              </a:spcAft>
              <a:buClr>
                <a:srgbClr val="002060"/>
              </a:buClr>
              <a:buSzPts val="2800"/>
              <a:buChar char="•"/>
            </a:pPr>
            <a:r>
              <a:rPr lang="en-US" sz="2800"/>
              <a:t>Where did the servers go?</a:t>
            </a:r>
            <a:endParaRPr sz="2800"/>
          </a:p>
          <a:p>
            <a:pPr indent="-406400" lvl="0" marL="342900" rtl="0" algn="l">
              <a:spcBef>
                <a:spcPts val="360"/>
              </a:spcBef>
              <a:spcAft>
                <a:spcPts val="0"/>
              </a:spcAft>
              <a:buSzPts val="2800"/>
              <a:buChar char="•"/>
            </a:pPr>
            <a:r>
              <a:rPr lang="en-US" sz="2800"/>
              <a:t>Where does my website go?</a:t>
            </a:r>
            <a:endParaRPr sz="2800"/>
          </a:p>
          <a:p>
            <a:pPr indent="-406400" lvl="0" marL="342900" rtl="0" algn="l">
              <a:spcBef>
                <a:spcPts val="360"/>
              </a:spcBef>
              <a:spcAft>
                <a:spcPts val="0"/>
              </a:spcAft>
              <a:buSzPts val="2800"/>
              <a:buChar char="•"/>
            </a:pPr>
            <a:r>
              <a:rPr lang="en-US" sz="2800"/>
              <a:t>What does it cost?</a:t>
            </a:r>
            <a:endParaRPr sz="2800"/>
          </a:p>
        </p:txBody>
      </p:sp>
      <p:sp>
        <p:nvSpPr>
          <p:cNvPr id="126" name="Google Shape;126;p5"/>
          <p:cNvSpPr txBox="1"/>
          <p:nvPr>
            <p:ph idx="1" type="body"/>
          </p:nvPr>
        </p:nvSpPr>
        <p:spPr>
          <a:xfrm>
            <a:off x="875422" y="1496603"/>
            <a:ext cx="4040188" cy="47982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002060"/>
              </a:buClr>
              <a:buSzPts val="2400"/>
              <a:buNone/>
            </a:pPr>
            <a:r>
              <a:rPr lang="en-US" sz="2800"/>
              <a:t>Serverless</a:t>
            </a:r>
            <a:endParaRPr sz="2800"/>
          </a:p>
        </p:txBody>
      </p:sp>
      <p:pic>
        <p:nvPicPr>
          <p:cNvPr descr="Mainframe computer (Provided by Getty Images)" id="127" name="Google Shape;127;p5"/>
          <p:cNvPicPr preferRelativeResize="0"/>
          <p:nvPr/>
        </p:nvPicPr>
        <p:blipFill>
          <a:blip r:embed="rId3">
            <a:alphaModFix/>
          </a:blip>
          <a:stretch>
            <a:fillRect/>
          </a:stretch>
        </p:blipFill>
        <p:spPr>
          <a:xfrm>
            <a:off x="6423600" y="1278188"/>
            <a:ext cx="2195077" cy="32909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525318" y="212651"/>
            <a:ext cx="8093365" cy="7635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The Serverless Cloud</a:t>
            </a:r>
            <a:endParaRPr/>
          </a:p>
        </p:txBody>
      </p:sp>
      <p:sp>
        <p:nvSpPr>
          <p:cNvPr id="133" name="Google Shape;133;p6"/>
          <p:cNvSpPr txBox="1"/>
          <p:nvPr>
            <p:ph idx="3" type="body"/>
          </p:nvPr>
        </p:nvSpPr>
        <p:spPr>
          <a:xfrm>
            <a:off x="442191" y="1592714"/>
            <a:ext cx="2786743" cy="47982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2060"/>
              </a:buClr>
              <a:buSzPts val="2400"/>
              <a:buNone/>
            </a:pPr>
            <a:r>
              <a:rPr lang="en-US" sz="2800"/>
              <a:t>API &amp; Lambda</a:t>
            </a:r>
            <a:endParaRPr sz="2800"/>
          </a:p>
        </p:txBody>
      </p:sp>
      <p:sp>
        <p:nvSpPr>
          <p:cNvPr id="134" name="Google Shape;134;p6"/>
          <p:cNvSpPr txBox="1"/>
          <p:nvPr>
            <p:ph idx="4" type="body"/>
          </p:nvPr>
        </p:nvSpPr>
        <p:spPr>
          <a:xfrm>
            <a:off x="525318" y="2002550"/>
            <a:ext cx="6643578" cy="177479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1800"/>
              <a:buChar char="•"/>
            </a:pPr>
            <a:r>
              <a:rPr lang="en-US" sz="1800"/>
              <a:t>A</a:t>
            </a:r>
            <a:r>
              <a:rPr lang="en-US" sz="1800"/>
              <a:t>dvantages of using a serverless API.</a:t>
            </a:r>
            <a:endParaRPr/>
          </a:p>
          <a:p>
            <a:pPr indent="-342900" lvl="0" marL="342900" rtl="0" algn="l">
              <a:spcBef>
                <a:spcPts val="360"/>
              </a:spcBef>
              <a:spcAft>
                <a:spcPts val="0"/>
              </a:spcAft>
              <a:buClr>
                <a:srgbClr val="002060"/>
              </a:buClr>
              <a:buSzPts val="1800"/>
              <a:buChar char="•"/>
            </a:pPr>
            <a:r>
              <a:rPr lang="en-US" sz="1800"/>
              <a:t>Lambda API Logic.</a:t>
            </a:r>
            <a:endParaRPr/>
          </a:p>
          <a:p>
            <a:pPr indent="-342900" lvl="0" marL="342900" rtl="0" algn="l">
              <a:spcBef>
                <a:spcPts val="360"/>
              </a:spcBef>
              <a:spcAft>
                <a:spcPts val="0"/>
              </a:spcAft>
              <a:buClr>
                <a:srgbClr val="002060"/>
              </a:buClr>
              <a:buSzPts val="1800"/>
              <a:buChar char="•"/>
            </a:pPr>
            <a:r>
              <a:rPr lang="en-US" sz="1800"/>
              <a:t>What scripts are produced in order to make this happen?</a:t>
            </a:r>
            <a:endParaRPr/>
          </a:p>
          <a:p>
            <a:pPr indent="-342900" lvl="0" marL="342900" rtl="0" algn="l">
              <a:spcBef>
                <a:spcPts val="360"/>
              </a:spcBef>
              <a:spcAft>
                <a:spcPts val="0"/>
              </a:spcAft>
              <a:buClr>
                <a:srgbClr val="002060"/>
              </a:buClr>
              <a:buSzPts val="1800"/>
              <a:buChar char="•"/>
            </a:pPr>
            <a:r>
              <a:rPr lang="en-US" sz="1800"/>
              <a:t>S</a:t>
            </a:r>
            <a:r>
              <a:rPr lang="en-US" sz="1800"/>
              <a:t>teps needed to integrate the frontend with the backend.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525318" y="212651"/>
            <a:ext cx="8093365" cy="7635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The Serverless Cloud</a:t>
            </a:r>
            <a:endParaRPr/>
          </a:p>
        </p:txBody>
      </p:sp>
      <p:sp>
        <p:nvSpPr>
          <p:cNvPr id="140" name="Google Shape;140;p7"/>
          <p:cNvSpPr txBox="1"/>
          <p:nvPr/>
        </p:nvSpPr>
        <p:spPr>
          <a:xfrm>
            <a:off x="263039" y="1550652"/>
            <a:ext cx="2351699" cy="479822"/>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rgbClr val="002060"/>
              </a:buClr>
              <a:buSzPts val="2400"/>
              <a:buFont typeface="Arial"/>
              <a:buNone/>
            </a:pPr>
            <a:r>
              <a:rPr b="1" lang="en-US" sz="2400">
                <a:solidFill>
                  <a:srgbClr val="002060"/>
                </a:solidFill>
                <a:latin typeface="Calibri"/>
                <a:ea typeface="Calibri"/>
                <a:cs typeface="Calibri"/>
                <a:sym typeface="Calibri"/>
              </a:rPr>
              <a:t>Database</a:t>
            </a:r>
            <a:endParaRPr/>
          </a:p>
        </p:txBody>
      </p:sp>
      <p:sp>
        <p:nvSpPr>
          <p:cNvPr id="141" name="Google Shape;141;p7"/>
          <p:cNvSpPr txBox="1"/>
          <p:nvPr/>
        </p:nvSpPr>
        <p:spPr>
          <a:xfrm>
            <a:off x="422370" y="2030475"/>
            <a:ext cx="4149600" cy="20625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What are the data-model differences between MongoDB and DynamoDB?</a:t>
            </a:r>
            <a:endParaRPr/>
          </a:p>
          <a:p>
            <a:pPr indent="-342900" lvl="0" marL="342900" marR="0" rtl="0" algn="l">
              <a:spcBef>
                <a:spcPts val="36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What queries did you perform? </a:t>
            </a:r>
            <a:endParaRPr/>
          </a:p>
          <a:p>
            <a:pPr indent="-342900" lvl="0" marL="342900" marR="0" rtl="0" algn="l">
              <a:spcBef>
                <a:spcPts val="36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What scripts are produced in order to make this happen?</a:t>
            </a:r>
            <a:endParaRPr/>
          </a:p>
        </p:txBody>
      </p:sp>
      <p:graphicFrame>
        <p:nvGraphicFramePr>
          <p:cNvPr id="142" name="Google Shape;142;p7"/>
          <p:cNvGraphicFramePr/>
          <p:nvPr/>
        </p:nvGraphicFramePr>
        <p:xfrm>
          <a:off x="4571975" y="1550650"/>
          <a:ext cx="3000000" cy="3000000"/>
        </p:xfrm>
        <a:graphic>
          <a:graphicData uri="http://schemas.openxmlformats.org/drawingml/2006/table">
            <a:tbl>
              <a:tblPr>
                <a:noFill/>
                <a:tableStyleId>{BA2948F9-2E8F-417D-908E-60E6109C902B}</a:tableStyleId>
              </a:tblPr>
              <a:tblGrid>
                <a:gridCol w="1348900"/>
                <a:gridCol w="1334650"/>
                <a:gridCol w="1363150"/>
              </a:tblGrid>
              <a:tr h="527750">
                <a:tc>
                  <a:txBody>
                    <a:bodyPr/>
                    <a:lstStyle/>
                    <a:p>
                      <a:pPr indent="0" lvl="0" marL="0" rtl="0" algn="l">
                        <a:spcBef>
                          <a:spcPts val="0"/>
                        </a:spcBef>
                        <a:spcAft>
                          <a:spcPts val="0"/>
                        </a:spcAft>
                        <a:buNone/>
                      </a:pPr>
                      <a:r>
                        <a:rPr b="1" lang="en-US"/>
                        <a:t>Prime Key</a:t>
                      </a:r>
                      <a:endParaRPr b="1"/>
                    </a:p>
                  </a:txBody>
                  <a:tcPr marT="91425" marB="91425" marR="91425" marL="91425"/>
                </a:tc>
                <a:tc gridSpan="2">
                  <a:txBody>
                    <a:bodyPr/>
                    <a:lstStyle/>
                    <a:p>
                      <a:pPr indent="0" lvl="0" marL="0" rtl="0" algn="l">
                        <a:spcBef>
                          <a:spcPts val="0"/>
                        </a:spcBef>
                        <a:spcAft>
                          <a:spcPts val="0"/>
                        </a:spcAft>
                        <a:buNone/>
                      </a:pPr>
                      <a:r>
                        <a:rPr b="1" lang="en-US"/>
                        <a:t>Attributes</a:t>
                      </a:r>
                      <a:endParaRPr b="1"/>
                    </a:p>
                  </a:txBody>
                  <a:tcPr marT="91425" marB="91425" marR="91425" marL="91425"/>
                </a:tc>
                <a:tc hMerge="1"/>
              </a:tr>
              <a:tr h="527750">
                <a:tc>
                  <a:txBody>
                    <a:bodyPr/>
                    <a:lstStyle/>
                    <a:p>
                      <a:pPr indent="0" lvl="0" marL="0" rtl="0" algn="l">
                        <a:spcBef>
                          <a:spcPts val="0"/>
                        </a:spcBef>
                        <a:spcAft>
                          <a:spcPts val="0"/>
                        </a:spcAft>
                        <a:buNone/>
                      </a:pPr>
                      <a:r>
                        <a:rPr lang="en-US"/>
                        <a:t>101</a:t>
                      </a:r>
                      <a:endParaRPr/>
                    </a:p>
                  </a:txBody>
                  <a:tcPr marT="91425" marB="91425" marR="91425" marL="91425"/>
                </a:tc>
                <a:tc>
                  <a:txBody>
                    <a:bodyPr/>
                    <a:lstStyle/>
                    <a:p>
                      <a:pPr indent="0" lvl="0" marL="0" rtl="0" algn="l">
                        <a:spcBef>
                          <a:spcPts val="0"/>
                        </a:spcBef>
                        <a:spcAft>
                          <a:spcPts val="0"/>
                        </a:spcAft>
                        <a:buNone/>
                      </a:pPr>
                      <a:r>
                        <a:rPr i="1" lang="en-US"/>
                        <a:t>LastName</a:t>
                      </a:r>
                      <a:endParaRPr i="1"/>
                    </a:p>
                    <a:p>
                      <a:pPr indent="0" lvl="0" marL="0" rtl="0" algn="l">
                        <a:spcBef>
                          <a:spcPts val="0"/>
                        </a:spcBef>
                        <a:spcAft>
                          <a:spcPts val="0"/>
                        </a:spcAft>
                        <a:buNone/>
                      </a:pPr>
                      <a:r>
                        <a:rPr lang="en-US"/>
                        <a:t>Smith</a:t>
                      </a:r>
                      <a:endParaRPr/>
                    </a:p>
                  </a:txBody>
                  <a:tcPr marT="91425" marB="91425" marR="91425" marL="91425"/>
                </a:tc>
                <a:tc>
                  <a:txBody>
                    <a:bodyPr/>
                    <a:lstStyle/>
                    <a:p>
                      <a:pPr indent="0" lvl="0" marL="0" rtl="0" algn="l">
                        <a:spcBef>
                          <a:spcPts val="0"/>
                        </a:spcBef>
                        <a:spcAft>
                          <a:spcPts val="0"/>
                        </a:spcAft>
                        <a:buNone/>
                      </a:pPr>
                      <a:r>
                        <a:rPr i="1" lang="en-US"/>
                        <a:t>FirstName</a:t>
                      </a:r>
                      <a:endParaRPr i="1"/>
                    </a:p>
                    <a:p>
                      <a:pPr indent="0" lvl="0" marL="0" rtl="0" algn="l">
                        <a:spcBef>
                          <a:spcPts val="0"/>
                        </a:spcBef>
                        <a:spcAft>
                          <a:spcPts val="0"/>
                        </a:spcAft>
                        <a:buNone/>
                      </a:pPr>
                      <a:r>
                        <a:rPr lang="en-US"/>
                        <a:t>Fred</a:t>
                      </a:r>
                      <a:endParaRPr/>
                    </a:p>
                  </a:txBody>
                  <a:tcPr marT="91425" marB="91425" marR="91425" marL="91425"/>
                </a:tc>
              </a:tr>
              <a:tr h="507500">
                <a:tc>
                  <a:txBody>
                    <a:bodyPr/>
                    <a:lstStyle/>
                    <a:p>
                      <a:pPr indent="0" lvl="0" marL="0" rtl="0" algn="l">
                        <a:spcBef>
                          <a:spcPts val="0"/>
                        </a:spcBef>
                        <a:spcAft>
                          <a:spcPts val="0"/>
                        </a:spcAft>
                        <a:buNone/>
                      </a:pPr>
                      <a:r>
                        <a:rPr lang="en-US"/>
                        <a:t>102</a:t>
                      </a:r>
                      <a:endParaRPr/>
                    </a:p>
                  </a:txBody>
                  <a:tcPr marT="91425" marB="91425" marR="91425" marL="91425"/>
                </a:tc>
                <a:tc>
                  <a:txBody>
                    <a:bodyPr/>
                    <a:lstStyle/>
                    <a:p>
                      <a:pPr indent="0" lvl="0" marL="0" rtl="0" algn="l">
                        <a:spcBef>
                          <a:spcPts val="0"/>
                        </a:spcBef>
                        <a:spcAft>
                          <a:spcPts val="0"/>
                        </a:spcAft>
                        <a:buNone/>
                      </a:pPr>
                      <a:r>
                        <a:rPr i="1" lang="en-US"/>
                        <a:t>LastName</a:t>
                      </a:r>
                      <a:endParaRPr i="1"/>
                    </a:p>
                    <a:p>
                      <a:pPr indent="0" lvl="0" marL="0" rtl="0" algn="l">
                        <a:spcBef>
                          <a:spcPts val="0"/>
                        </a:spcBef>
                        <a:spcAft>
                          <a:spcPts val="0"/>
                        </a:spcAft>
                        <a:buNone/>
                      </a:pPr>
                      <a:r>
                        <a:rPr lang="en-US"/>
                        <a:t>Tom</a:t>
                      </a:r>
                      <a:endParaRPr/>
                    </a:p>
                  </a:txBody>
                  <a:tcPr marT="91425" marB="91425" marR="91425" marL="91425"/>
                </a:tc>
                <a:tc>
                  <a:txBody>
                    <a:bodyPr/>
                    <a:lstStyle/>
                    <a:p>
                      <a:pPr indent="0" lvl="0" marL="0" rtl="0" algn="l">
                        <a:spcBef>
                          <a:spcPts val="0"/>
                        </a:spcBef>
                        <a:spcAft>
                          <a:spcPts val="0"/>
                        </a:spcAft>
                        <a:buNone/>
                      </a:pPr>
                      <a:r>
                        <a:rPr i="1" lang="en-US"/>
                        <a:t>FirstName</a:t>
                      </a:r>
                      <a:endParaRPr i="1"/>
                    </a:p>
                    <a:p>
                      <a:pPr indent="0" lvl="0" marL="0" rtl="0" algn="l">
                        <a:spcBef>
                          <a:spcPts val="0"/>
                        </a:spcBef>
                        <a:spcAft>
                          <a:spcPts val="0"/>
                        </a:spcAft>
                        <a:buNone/>
                      </a:pPr>
                      <a:r>
                        <a:rPr lang="en-US"/>
                        <a:t>Tim</a:t>
                      </a:r>
                      <a:endParaRPr/>
                    </a:p>
                  </a:txBody>
                  <a:tcPr marT="91425" marB="91425" marR="91425" marL="91425"/>
                </a:tc>
              </a:tr>
            </a:tbl>
          </a:graphicData>
        </a:graphic>
      </p:graphicFrame>
      <p:sp>
        <p:nvSpPr>
          <p:cNvPr id="143" name="Google Shape;143;p7"/>
          <p:cNvSpPr txBox="1"/>
          <p:nvPr/>
        </p:nvSpPr>
        <p:spPr>
          <a:xfrm>
            <a:off x="4571975" y="3297500"/>
            <a:ext cx="4046700" cy="16590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  “number”: 103,</a:t>
            </a:r>
            <a:endParaRPr>
              <a:solidFill>
                <a:schemeClr val="dk1"/>
              </a:solidFill>
            </a:endParaRPr>
          </a:p>
          <a:p>
            <a:pPr indent="0" lvl="0" marL="0" rtl="0" algn="l">
              <a:spcBef>
                <a:spcPts val="0"/>
              </a:spcBef>
              <a:spcAft>
                <a:spcPts val="0"/>
              </a:spcAft>
              <a:buNone/>
            </a:pPr>
            <a:r>
              <a:rPr lang="en-US">
                <a:solidFill>
                  <a:schemeClr val="dk1"/>
                </a:solidFill>
              </a:rPr>
              <a:t>  “data”: {</a:t>
            </a:r>
            <a:endParaRPr>
              <a:solidFill>
                <a:schemeClr val="dk1"/>
              </a:solidFill>
            </a:endParaRPr>
          </a:p>
          <a:p>
            <a:pPr indent="0" lvl="0" marL="0" rtl="0" algn="l">
              <a:spcBef>
                <a:spcPts val="0"/>
              </a:spcBef>
              <a:spcAft>
                <a:spcPts val="0"/>
              </a:spcAft>
              <a:buNone/>
            </a:pPr>
            <a:r>
              <a:rPr lang="en-US">
                <a:solidFill>
                  <a:schemeClr val="dk1"/>
                </a:solidFill>
              </a:rPr>
              <a:t>    “LastName”: “Richard”,</a:t>
            </a:r>
            <a:endParaRPr>
              <a:solidFill>
                <a:schemeClr val="dk1"/>
              </a:solidFill>
            </a:endParaRPr>
          </a:p>
          <a:p>
            <a:pPr indent="0" lvl="0" marL="0" rtl="0" algn="l">
              <a:spcBef>
                <a:spcPts val="0"/>
              </a:spcBef>
              <a:spcAft>
                <a:spcPts val="0"/>
              </a:spcAft>
              <a:buNone/>
            </a:pPr>
            <a:r>
              <a:rPr lang="en-US">
                <a:solidFill>
                  <a:schemeClr val="dk1"/>
                </a:solidFill>
              </a:rPr>
              <a:t>    “FirstName”: “Chris”</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449824" y="224337"/>
            <a:ext cx="8259098" cy="763526"/>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chemeClr val="dk1"/>
              </a:buClr>
              <a:buSzPct val="100000"/>
              <a:buFont typeface="Calibri"/>
              <a:buNone/>
            </a:pPr>
            <a:r>
              <a:rPr lang="en-US">
                <a:solidFill>
                  <a:schemeClr val="dk1"/>
                </a:solidFill>
              </a:rPr>
              <a:t>Cloud-Based </a:t>
            </a:r>
            <a:br>
              <a:rPr lang="en-US">
                <a:solidFill>
                  <a:schemeClr val="dk1"/>
                </a:solidFill>
              </a:rPr>
            </a:br>
            <a:r>
              <a:rPr lang="en-US"/>
              <a:t>Development Principles</a:t>
            </a:r>
            <a:endParaRPr/>
          </a:p>
        </p:txBody>
      </p:sp>
      <p:sp>
        <p:nvSpPr>
          <p:cNvPr id="149" name="Google Shape;149;p8"/>
          <p:cNvSpPr txBox="1"/>
          <p:nvPr>
            <p:ph idx="1" type="body"/>
          </p:nvPr>
        </p:nvSpPr>
        <p:spPr>
          <a:xfrm>
            <a:off x="463714" y="1415845"/>
            <a:ext cx="8246070" cy="336263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2800"/>
              <a:buChar char="•"/>
            </a:pPr>
            <a:r>
              <a:rPr lang="en-US"/>
              <a:t>Elasticity</a:t>
            </a:r>
            <a:endParaRPr/>
          </a:p>
          <a:p>
            <a:pPr indent="-342900" lvl="0" marL="342900" rtl="0" algn="l">
              <a:spcBef>
                <a:spcPts val="560"/>
              </a:spcBef>
              <a:spcAft>
                <a:spcPts val="0"/>
              </a:spcAft>
              <a:buClr>
                <a:srgbClr val="002060"/>
              </a:buClr>
              <a:buSzPts val="2800"/>
              <a:buChar char="•"/>
            </a:pPr>
            <a:r>
              <a:rPr lang="en-US"/>
              <a:t>Pay-for-use model</a:t>
            </a:r>
            <a:endParaRPr/>
          </a:p>
          <a:p>
            <a:pPr indent="0" lvl="0" marL="0" rtl="0" algn="l">
              <a:spcBef>
                <a:spcPts val="560"/>
              </a:spcBef>
              <a:spcAft>
                <a:spcPts val="0"/>
              </a:spcAft>
              <a:buClr>
                <a:srgbClr val="002060"/>
              </a:buClr>
              <a:buSzPts val="2800"/>
              <a:buNone/>
            </a:pPr>
            <a:r>
              <a:t/>
            </a:r>
            <a:endParaRPr/>
          </a:p>
          <a:p>
            <a:pPr indent="-165100" lvl="0" marL="342900" rtl="0" algn="l">
              <a:spcBef>
                <a:spcPts val="560"/>
              </a:spcBef>
              <a:spcAft>
                <a:spcPts val="0"/>
              </a:spcAft>
              <a:buClr>
                <a:srgbClr val="002060"/>
              </a:buClr>
              <a:buSzPts val="2800"/>
              <a:buNone/>
            </a:pPr>
            <a:r>
              <a:t/>
            </a:r>
            <a:endParaRPr/>
          </a:p>
          <a:p>
            <a:pPr indent="-165100" lvl="0" marL="342900" rtl="0" algn="l">
              <a:spcBef>
                <a:spcPts val="560"/>
              </a:spcBef>
              <a:spcAft>
                <a:spcPts val="0"/>
              </a:spcAft>
              <a:buClr>
                <a:srgbClr val="002060"/>
              </a:buClr>
              <a:buSzPts val="2800"/>
              <a:buNone/>
            </a:pPr>
            <a:r>
              <a:t/>
            </a:r>
            <a:endParaRPr/>
          </a:p>
        </p:txBody>
      </p:sp>
      <p:pic>
        <p:nvPicPr>
          <p:cNvPr descr="Capacity vs Usage (Traditional Data Center) graph. The X axis is &quot;Time&quot; and the Y axis is &quot;Computer Power&quot;. A blue line representing &quot;Planned Capacity&quot; goes up at regular intervals. A red line representing &quot;Actual Usage&quot; is more smooth. A dip in Actual Usage is labeled &quot;waste&quot;. A plateau in &quot;Planned Capacity&quot; is labeled &quot;Customer dissatisfaction&quot;. " id="150" name="Google Shape;150;p8"/>
          <p:cNvPicPr preferRelativeResize="0"/>
          <p:nvPr/>
        </p:nvPicPr>
        <p:blipFill rotWithShape="1">
          <a:blip r:embed="rId3">
            <a:alphaModFix/>
          </a:blip>
          <a:srcRect b="0" l="0" r="0" t="0"/>
          <a:stretch/>
        </p:blipFill>
        <p:spPr>
          <a:xfrm>
            <a:off x="3997234" y="1244709"/>
            <a:ext cx="4711688" cy="35337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txBox="1"/>
          <p:nvPr>
            <p:ph type="title"/>
          </p:nvPr>
        </p:nvSpPr>
        <p:spPr>
          <a:xfrm>
            <a:off x="525318" y="212651"/>
            <a:ext cx="8093365" cy="7635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2060"/>
              </a:buClr>
              <a:buSzPts val="3600"/>
              <a:buFont typeface="Calibri"/>
              <a:buNone/>
            </a:pPr>
            <a:r>
              <a:rPr lang="en-US"/>
              <a:t>Securing Your Cloud App</a:t>
            </a:r>
            <a:endParaRPr/>
          </a:p>
        </p:txBody>
      </p:sp>
      <p:sp>
        <p:nvSpPr>
          <p:cNvPr id="156" name="Google Shape;156;p9"/>
          <p:cNvSpPr txBox="1"/>
          <p:nvPr>
            <p:ph idx="1" type="body"/>
          </p:nvPr>
        </p:nvSpPr>
        <p:spPr>
          <a:xfrm>
            <a:off x="184672" y="1530153"/>
            <a:ext cx="2351700" cy="47982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002060"/>
              </a:buClr>
              <a:buSzPts val="2400"/>
              <a:buNone/>
            </a:pPr>
            <a:r>
              <a:rPr lang="en-US"/>
              <a:t>Access</a:t>
            </a:r>
            <a:endParaRPr/>
          </a:p>
        </p:txBody>
      </p:sp>
      <p:sp>
        <p:nvSpPr>
          <p:cNvPr id="157" name="Google Shape;157;p9"/>
          <p:cNvSpPr txBox="1"/>
          <p:nvPr>
            <p:ph idx="2" type="body"/>
          </p:nvPr>
        </p:nvSpPr>
        <p:spPr>
          <a:xfrm>
            <a:off x="184672" y="2002550"/>
            <a:ext cx="2612955" cy="189453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1800"/>
              <a:buChar char="•"/>
            </a:pPr>
            <a:r>
              <a:rPr lang="en-US" sz="1800"/>
              <a:t>How can you prevent unauthorized access?</a:t>
            </a:r>
            <a:endParaRPr/>
          </a:p>
          <a:p>
            <a:pPr indent="-228600" lvl="0" marL="342900" rtl="0" algn="l">
              <a:spcBef>
                <a:spcPts val="360"/>
              </a:spcBef>
              <a:spcAft>
                <a:spcPts val="0"/>
              </a:spcAft>
              <a:buClr>
                <a:srgbClr val="002060"/>
              </a:buClr>
              <a:buSzPts val="1800"/>
              <a:buNone/>
            </a:pPr>
            <a:r>
              <a:t/>
            </a:r>
            <a:endParaRPr sz="1800"/>
          </a:p>
        </p:txBody>
      </p:sp>
      <p:sp>
        <p:nvSpPr>
          <p:cNvPr id="158" name="Google Shape;158;p9"/>
          <p:cNvSpPr txBox="1"/>
          <p:nvPr>
            <p:ph idx="3" type="body"/>
          </p:nvPr>
        </p:nvSpPr>
        <p:spPr>
          <a:xfrm>
            <a:off x="2797628" y="1558077"/>
            <a:ext cx="2786743" cy="47982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002060"/>
              </a:buClr>
              <a:buSzPts val="2400"/>
              <a:buNone/>
            </a:pPr>
            <a:r>
              <a:rPr lang="en-US"/>
              <a:t>Policies</a:t>
            </a:r>
            <a:endParaRPr/>
          </a:p>
        </p:txBody>
      </p:sp>
      <p:sp>
        <p:nvSpPr>
          <p:cNvPr id="159" name="Google Shape;159;p9"/>
          <p:cNvSpPr txBox="1"/>
          <p:nvPr>
            <p:ph idx="4" type="body"/>
          </p:nvPr>
        </p:nvSpPr>
        <p:spPr>
          <a:xfrm>
            <a:off x="2797628" y="2002550"/>
            <a:ext cx="2786743" cy="177479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2060"/>
              </a:buClr>
              <a:buSzPts val="1800"/>
              <a:buChar char="•"/>
            </a:pPr>
            <a:r>
              <a:rPr lang="en-US" sz="1800"/>
              <a:t>Explain the relationship between roles and policies.</a:t>
            </a:r>
            <a:endParaRPr/>
          </a:p>
          <a:p>
            <a:pPr indent="-342900" lvl="0" marL="342900" rtl="0" algn="l">
              <a:spcBef>
                <a:spcPts val="360"/>
              </a:spcBef>
              <a:spcAft>
                <a:spcPts val="0"/>
              </a:spcAft>
              <a:buClr>
                <a:srgbClr val="002060"/>
              </a:buClr>
              <a:buSzPts val="1800"/>
              <a:buChar char="•"/>
            </a:pPr>
            <a:r>
              <a:rPr lang="en-US" sz="1800"/>
              <a:t>What custom policies were created?</a:t>
            </a:r>
            <a:endParaRPr/>
          </a:p>
        </p:txBody>
      </p:sp>
      <p:sp>
        <p:nvSpPr>
          <p:cNvPr id="160" name="Google Shape;160;p9"/>
          <p:cNvSpPr txBox="1"/>
          <p:nvPr/>
        </p:nvSpPr>
        <p:spPr>
          <a:xfrm>
            <a:off x="6117771" y="1530153"/>
            <a:ext cx="2351699" cy="479822"/>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rgbClr val="002060"/>
              </a:buClr>
              <a:buSzPts val="2400"/>
              <a:buFont typeface="Arial"/>
              <a:buNone/>
            </a:pPr>
            <a:r>
              <a:rPr b="1" lang="en-US" sz="2400">
                <a:solidFill>
                  <a:srgbClr val="002060"/>
                </a:solidFill>
                <a:latin typeface="Calibri"/>
                <a:ea typeface="Calibri"/>
                <a:cs typeface="Calibri"/>
                <a:sym typeface="Calibri"/>
              </a:rPr>
              <a:t>API Security</a:t>
            </a:r>
            <a:endParaRPr/>
          </a:p>
        </p:txBody>
      </p:sp>
      <p:sp>
        <p:nvSpPr>
          <p:cNvPr id="161" name="Google Shape;161;p9"/>
          <p:cNvSpPr txBox="1"/>
          <p:nvPr/>
        </p:nvSpPr>
        <p:spPr>
          <a:xfrm>
            <a:off x="6117771" y="2002550"/>
            <a:ext cx="2500912" cy="2062555"/>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How can you secure the connection between Lambda and Gateway?</a:t>
            </a:r>
            <a:endParaRPr/>
          </a:p>
          <a:p>
            <a:pPr indent="-342900" lvl="0" marL="342900" marR="0" rtl="0" algn="l">
              <a:spcBef>
                <a:spcPts val="36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Lambda and the database</a:t>
            </a:r>
            <a:endParaRPr/>
          </a:p>
          <a:p>
            <a:pPr indent="-342900" lvl="0" marL="342900" marR="0" rtl="0" algn="l">
              <a:spcBef>
                <a:spcPts val="36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S3 Bucket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txBox="1"/>
          <p:nvPr>
            <p:ph type="title"/>
          </p:nvPr>
        </p:nvSpPr>
        <p:spPr>
          <a:xfrm>
            <a:off x="1234377" y="86488"/>
            <a:ext cx="7772400" cy="1021556"/>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Calibri"/>
              <a:buNone/>
            </a:pPr>
            <a:r>
              <a:rPr lang="en-US" sz="3200"/>
              <a:t>CONCLUSION</a:t>
            </a:r>
            <a:endParaRPr/>
          </a:p>
        </p:txBody>
      </p:sp>
      <p:sp>
        <p:nvSpPr>
          <p:cNvPr id="167" name="Google Shape;167;p10"/>
          <p:cNvSpPr txBox="1"/>
          <p:nvPr>
            <p:ph idx="1" type="body"/>
          </p:nvPr>
        </p:nvSpPr>
        <p:spPr>
          <a:xfrm>
            <a:off x="265113" y="3842580"/>
            <a:ext cx="7772400" cy="112514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888888"/>
              </a:buClr>
              <a:buSzPts val="2000"/>
              <a:buNone/>
            </a:pPr>
            <a:r>
              <a:rPr lang="en-US"/>
              <a:t>Thank you for your time. </a:t>
            </a:r>
            <a:endParaRPr/>
          </a:p>
        </p:txBody>
      </p:sp>
      <p:sp>
        <p:nvSpPr>
          <p:cNvPr id="168" name="Google Shape;168;p10"/>
          <p:cNvSpPr txBox="1"/>
          <p:nvPr/>
        </p:nvSpPr>
        <p:spPr>
          <a:xfrm>
            <a:off x="463714" y="1415845"/>
            <a:ext cx="8246070" cy="3362630"/>
          </a:xfrm>
          <a:prstGeom prst="rect">
            <a:avLst/>
          </a:prstGeom>
          <a:noFill/>
          <a:ln>
            <a:noFill/>
          </a:ln>
        </p:spPr>
        <p:txBody>
          <a:bodyPr anchorCtr="0" anchor="b" bIns="45700" lIns="91425" spcFirstLastPara="1" rIns="91425" wrap="square" tIns="45700">
            <a:normAutofit/>
          </a:bodyPr>
          <a:lstStyle/>
          <a:p>
            <a:pPr indent="0" lvl="0" marL="0" marR="0" rtl="0" algn="l">
              <a:spcBef>
                <a:spcPts val="0"/>
              </a:spcBef>
              <a:spcAft>
                <a:spcPts val="0"/>
              </a:spcAft>
              <a:buClr>
                <a:srgbClr val="888888"/>
              </a:buClr>
              <a:buSzPts val="2000"/>
              <a:buFont typeface="Arial"/>
              <a:buNone/>
            </a:pPr>
            <a:r>
              <a:t/>
            </a:r>
            <a:endParaRPr sz="2000">
              <a:solidFill>
                <a:srgbClr val="888888"/>
              </a:solidFill>
              <a:latin typeface="Calibri"/>
              <a:ea typeface="Calibri"/>
              <a:cs typeface="Calibri"/>
              <a:sym typeface="Calibri"/>
            </a:endParaRPr>
          </a:p>
        </p:txBody>
      </p:sp>
      <p:sp>
        <p:nvSpPr>
          <p:cNvPr id="169" name="Google Shape;169;p10"/>
          <p:cNvSpPr/>
          <p:nvPr/>
        </p:nvSpPr>
        <p:spPr>
          <a:xfrm>
            <a:off x="353002" y="1300920"/>
            <a:ext cx="7952797" cy="646331"/>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0" name="Google Shape;170;p10" title="Untitled Diagram.jpg"/>
          <p:cNvPicPr preferRelativeResize="0"/>
          <p:nvPr/>
        </p:nvPicPr>
        <p:blipFill>
          <a:blip r:embed="rId3">
            <a:alphaModFix/>
          </a:blip>
          <a:stretch>
            <a:fillRect/>
          </a:stretch>
        </p:blipFill>
        <p:spPr>
          <a:xfrm>
            <a:off x="1498495" y="1850874"/>
            <a:ext cx="5661829" cy="2492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2017-08-01T15:40:51Z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0x01010019267F6D1A260A4394C18F5AF72445EA</vt:lpwstr>
  </property>
</Properties>
</file>